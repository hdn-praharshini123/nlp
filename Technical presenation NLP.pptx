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62" r:id="rId2"/>
    <p:sldId id="263" r:id="rId3"/>
    <p:sldId id="264" r:id="rId4"/>
    <p:sldId id="265" r:id="rId5"/>
    <p:sldId id="256" r:id="rId6"/>
    <p:sldId id="257" r:id="rId7"/>
    <p:sldId id="258" r:id="rId8"/>
    <p:sldId id="259" r:id="rId9"/>
    <p:sldId id="260" r:id="rId10"/>
    <p:sldId id="261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69B7324-B2F4-4B0C-9AC4-8C819C2AEFC8}" v="8" dt="2026-07-25T03:03:10.66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2" d="100"/>
          <a:sy n="102" d="100"/>
        </p:scale>
        <p:origin x="58" y="-5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ahaharshini HDN" userId="05da48dd72767731" providerId="LiveId" clId="{3D3B9BD5-FC15-4035-9A30-29EDFE59303E}"/>
    <pc:docChg chg="undo custSel addSld delSld modSld sldOrd">
      <pc:chgData name="Prahaharshini HDN" userId="05da48dd72767731" providerId="LiveId" clId="{3D3B9BD5-FC15-4035-9A30-29EDFE59303E}" dt="2026-07-25T03:07:45.931" v="125" actId="20577"/>
      <pc:docMkLst>
        <pc:docMk/>
      </pc:docMkLst>
      <pc:sldChg chg="ord">
        <pc:chgData name="Prahaharshini HDN" userId="05da48dd72767731" providerId="LiveId" clId="{3D3B9BD5-FC15-4035-9A30-29EDFE59303E}" dt="2026-07-25T03:01:08.737" v="7"/>
        <pc:sldMkLst>
          <pc:docMk/>
          <pc:sldMk cId="0" sldId="256"/>
        </pc:sldMkLst>
      </pc:sldChg>
      <pc:sldChg chg="addSp modSp new mod">
        <pc:chgData name="Prahaharshini HDN" userId="05da48dd72767731" providerId="LiveId" clId="{3D3B9BD5-FC15-4035-9A30-29EDFE59303E}" dt="2026-07-25T03:00:32.321" v="4" actId="14100"/>
        <pc:sldMkLst>
          <pc:docMk/>
          <pc:sldMk cId="3794970355" sldId="261"/>
        </pc:sldMkLst>
        <pc:picChg chg="add mod">
          <ac:chgData name="Prahaharshini HDN" userId="05da48dd72767731" providerId="LiveId" clId="{3D3B9BD5-FC15-4035-9A30-29EDFE59303E}" dt="2026-07-25T03:00:32.321" v="4" actId="14100"/>
          <ac:picMkLst>
            <pc:docMk/>
            <pc:sldMk cId="3794970355" sldId="261"/>
            <ac:picMk id="3" creationId="{9821D065-3F54-719A-CFED-EE9C422DF11E}"/>
          </ac:picMkLst>
        </pc:picChg>
      </pc:sldChg>
      <pc:sldChg chg="modSp add mod">
        <pc:chgData name="Prahaharshini HDN" userId="05da48dd72767731" providerId="LiveId" clId="{3D3B9BD5-FC15-4035-9A30-29EDFE59303E}" dt="2026-07-25T03:07:45.931" v="125" actId="20577"/>
        <pc:sldMkLst>
          <pc:docMk/>
          <pc:sldMk cId="0" sldId="262"/>
        </pc:sldMkLst>
        <pc:spChg chg="mod">
          <ac:chgData name="Prahaharshini HDN" userId="05da48dd72767731" providerId="LiveId" clId="{3D3B9BD5-FC15-4035-9A30-29EDFE59303E}" dt="2026-07-25T03:07:45.931" v="125" actId="20577"/>
          <ac:spMkLst>
            <pc:docMk/>
            <pc:sldMk cId="0" sldId="262"/>
            <ac:spMk id="5" creationId="{00000000-0000-0000-0000-000000000000}"/>
          </ac:spMkLst>
        </pc:spChg>
        <pc:graphicFrameChg chg="modGraphic">
          <ac:chgData name="Prahaharshini HDN" userId="05da48dd72767731" providerId="LiveId" clId="{3D3B9BD5-FC15-4035-9A30-29EDFE59303E}" dt="2026-07-25T03:07:00.130" v="79" actId="20577"/>
          <ac:graphicFrameMkLst>
            <pc:docMk/>
            <pc:sldMk cId="0" sldId="262"/>
            <ac:graphicFrameMk id="4" creationId="{00000000-0000-0000-0000-000000000000}"/>
          </ac:graphicFrameMkLst>
        </pc:graphicFrameChg>
      </pc:sldChg>
      <pc:sldChg chg="add">
        <pc:chgData name="Prahaharshini HDN" userId="05da48dd72767731" providerId="LiveId" clId="{3D3B9BD5-FC15-4035-9A30-29EDFE59303E}" dt="2026-07-25T03:01:29.703" v="8"/>
        <pc:sldMkLst>
          <pc:docMk/>
          <pc:sldMk cId="0" sldId="263"/>
        </pc:sldMkLst>
      </pc:sldChg>
      <pc:sldChg chg="add">
        <pc:chgData name="Prahaharshini HDN" userId="05da48dd72767731" providerId="LiveId" clId="{3D3B9BD5-FC15-4035-9A30-29EDFE59303E}" dt="2026-07-25T03:01:48.296" v="9"/>
        <pc:sldMkLst>
          <pc:docMk/>
          <pc:sldMk cId="0" sldId="264"/>
        </pc:sldMkLst>
      </pc:sldChg>
      <pc:sldChg chg="modSp add del mod">
        <pc:chgData name="Prahaharshini HDN" userId="05da48dd72767731" providerId="LiveId" clId="{3D3B9BD5-FC15-4035-9A30-29EDFE59303E}" dt="2026-07-25T03:06:13.932" v="44" actId="14100"/>
        <pc:sldMkLst>
          <pc:docMk/>
          <pc:sldMk cId="0" sldId="265"/>
        </pc:sldMkLst>
        <pc:graphicFrameChg chg="mod modGraphic">
          <ac:chgData name="Prahaharshini HDN" userId="05da48dd72767731" providerId="LiveId" clId="{3D3B9BD5-FC15-4035-9A30-29EDFE59303E}" dt="2026-07-25T03:04:17.574" v="30" actId="1076"/>
          <ac:graphicFrameMkLst>
            <pc:docMk/>
            <pc:sldMk cId="0" sldId="265"/>
            <ac:graphicFrameMk id="4" creationId="{00000000-0000-0000-0000-000000000000}"/>
          </ac:graphicFrameMkLst>
        </pc:graphicFrameChg>
        <pc:graphicFrameChg chg="mod modGraphic">
          <ac:chgData name="Prahaharshini HDN" userId="05da48dd72767731" providerId="LiveId" clId="{3D3B9BD5-FC15-4035-9A30-29EDFE59303E}" dt="2026-07-25T03:05:50.069" v="42" actId="14100"/>
          <ac:graphicFrameMkLst>
            <pc:docMk/>
            <pc:sldMk cId="0" sldId="265"/>
            <ac:graphicFrameMk id="5" creationId="{00000000-0000-0000-0000-000000000000}"/>
          </ac:graphicFrameMkLst>
        </pc:graphicFrameChg>
        <pc:graphicFrameChg chg="mod modGraphic">
          <ac:chgData name="Prahaharshini HDN" userId="05da48dd72767731" providerId="LiveId" clId="{3D3B9BD5-FC15-4035-9A30-29EDFE59303E}" dt="2026-07-25T03:06:13.932" v="44" actId="14100"/>
          <ac:graphicFrameMkLst>
            <pc:docMk/>
            <pc:sldMk cId="0" sldId="265"/>
            <ac:graphicFrameMk id="6" creationId="{00000000-0000-0000-0000-000000000000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624359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7/25/2026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526539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46258" y="165908"/>
            <a:ext cx="3497840" cy="384884"/>
          </a:xfrm>
          <a:prstGeom prst="rect">
            <a:avLst/>
          </a:prstGeom>
        </p:spPr>
        <p:txBody>
          <a:bodyPr vert="horz" wrap="square" lIns="0" tIns="8226" rIns="0" bIns="0" rtlCol="0">
            <a:spAutoFit/>
          </a:bodyPr>
          <a:lstStyle/>
          <a:p>
            <a:pPr algn="ctr">
              <a:lnSpc>
                <a:spcPts val="1050"/>
              </a:lnSpc>
              <a:spcBef>
                <a:spcPts val="65"/>
              </a:spcBef>
            </a:pPr>
            <a:r>
              <a:rPr sz="886" b="1" dirty="0">
                <a:solidFill>
                  <a:srgbClr val="1F4E79"/>
                </a:solidFill>
                <a:latin typeface="Arial"/>
                <a:cs typeface="Arial"/>
              </a:rPr>
              <a:t>SIMATS</a:t>
            </a:r>
            <a:r>
              <a:rPr sz="886" b="1" spc="-31" dirty="0">
                <a:solidFill>
                  <a:srgbClr val="1F4E79"/>
                </a:solidFill>
                <a:latin typeface="Arial"/>
                <a:cs typeface="Arial"/>
              </a:rPr>
              <a:t> </a:t>
            </a:r>
            <a:r>
              <a:rPr sz="886" b="1" dirty="0">
                <a:solidFill>
                  <a:srgbClr val="1F4E79"/>
                </a:solidFill>
                <a:latin typeface="Arial"/>
                <a:cs typeface="Arial"/>
              </a:rPr>
              <a:t>ENGINEERING</a:t>
            </a:r>
            <a:r>
              <a:rPr sz="886" b="1" spc="-27" dirty="0">
                <a:solidFill>
                  <a:srgbClr val="1F4E79"/>
                </a:solidFill>
                <a:latin typeface="Arial"/>
                <a:cs typeface="Arial"/>
              </a:rPr>
              <a:t> </a:t>
            </a:r>
            <a:r>
              <a:rPr sz="886" b="1" dirty="0">
                <a:solidFill>
                  <a:srgbClr val="1F4E79"/>
                </a:solidFill>
                <a:latin typeface="Arial"/>
                <a:cs typeface="Arial"/>
              </a:rPr>
              <a:t>(SAVEETHA</a:t>
            </a:r>
            <a:r>
              <a:rPr sz="886" b="1" spc="-37" dirty="0">
                <a:solidFill>
                  <a:srgbClr val="1F4E79"/>
                </a:solidFill>
                <a:latin typeface="Arial"/>
                <a:cs typeface="Arial"/>
              </a:rPr>
              <a:t> </a:t>
            </a:r>
            <a:r>
              <a:rPr sz="886" b="1" dirty="0">
                <a:solidFill>
                  <a:srgbClr val="1F4E79"/>
                </a:solidFill>
                <a:latin typeface="Arial"/>
                <a:cs typeface="Arial"/>
              </a:rPr>
              <a:t>SCHOOL</a:t>
            </a:r>
            <a:r>
              <a:rPr sz="886" b="1" spc="-27" dirty="0">
                <a:solidFill>
                  <a:srgbClr val="1F4E79"/>
                </a:solidFill>
                <a:latin typeface="Arial"/>
                <a:cs typeface="Arial"/>
              </a:rPr>
              <a:t> </a:t>
            </a:r>
            <a:r>
              <a:rPr sz="886" b="1" dirty="0">
                <a:solidFill>
                  <a:srgbClr val="1F4E79"/>
                </a:solidFill>
                <a:latin typeface="Arial"/>
                <a:cs typeface="Arial"/>
              </a:rPr>
              <a:t>OF</a:t>
            </a:r>
            <a:r>
              <a:rPr sz="886" b="1" spc="-27" dirty="0">
                <a:solidFill>
                  <a:srgbClr val="1F4E79"/>
                </a:solidFill>
                <a:latin typeface="Arial"/>
                <a:cs typeface="Arial"/>
              </a:rPr>
              <a:t> </a:t>
            </a:r>
            <a:r>
              <a:rPr sz="886" b="1" spc="-7" dirty="0">
                <a:solidFill>
                  <a:srgbClr val="1F4E79"/>
                </a:solidFill>
                <a:latin typeface="Arial"/>
                <a:cs typeface="Arial"/>
              </a:rPr>
              <a:t>ENGINEERING)</a:t>
            </a:r>
            <a:endParaRPr sz="886">
              <a:latin typeface="Arial"/>
              <a:cs typeface="Arial"/>
            </a:endParaRPr>
          </a:p>
          <a:p>
            <a:pPr marL="3031" algn="ctr">
              <a:lnSpc>
                <a:spcPts val="862"/>
              </a:lnSpc>
            </a:pPr>
            <a:r>
              <a:rPr sz="750" b="1" dirty="0">
                <a:solidFill>
                  <a:srgbClr val="2D75B6"/>
                </a:solidFill>
                <a:latin typeface="Arial"/>
                <a:cs typeface="Arial"/>
              </a:rPr>
              <a:t>Department</a:t>
            </a:r>
            <a:r>
              <a:rPr sz="750" b="1" spc="-17" dirty="0">
                <a:solidFill>
                  <a:srgbClr val="2D75B6"/>
                </a:solidFill>
                <a:latin typeface="Arial"/>
                <a:cs typeface="Arial"/>
              </a:rPr>
              <a:t> </a:t>
            </a:r>
            <a:r>
              <a:rPr sz="750" b="1" dirty="0">
                <a:solidFill>
                  <a:srgbClr val="2D75B6"/>
                </a:solidFill>
                <a:latin typeface="Arial"/>
                <a:cs typeface="Arial"/>
              </a:rPr>
              <a:t>of</a:t>
            </a:r>
            <a:r>
              <a:rPr sz="750" b="1" spc="-10" dirty="0">
                <a:solidFill>
                  <a:srgbClr val="2D75B6"/>
                </a:solidFill>
                <a:latin typeface="Arial"/>
                <a:cs typeface="Arial"/>
              </a:rPr>
              <a:t> </a:t>
            </a:r>
            <a:r>
              <a:rPr sz="750" b="1" dirty="0">
                <a:solidFill>
                  <a:srgbClr val="2D75B6"/>
                </a:solidFill>
                <a:latin typeface="Arial"/>
                <a:cs typeface="Arial"/>
              </a:rPr>
              <a:t>Artificial</a:t>
            </a:r>
            <a:r>
              <a:rPr sz="750" b="1" spc="-20" dirty="0">
                <a:solidFill>
                  <a:srgbClr val="2D75B6"/>
                </a:solidFill>
                <a:latin typeface="Arial"/>
                <a:cs typeface="Arial"/>
              </a:rPr>
              <a:t> </a:t>
            </a:r>
            <a:r>
              <a:rPr sz="750" b="1" dirty="0">
                <a:solidFill>
                  <a:srgbClr val="2D75B6"/>
                </a:solidFill>
                <a:latin typeface="Arial"/>
                <a:cs typeface="Arial"/>
              </a:rPr>
              <a:t>Intelligence</a:t>
            </a:r>
            <a:r>
              <a:rPr sz="750" b="1" spc="-3" dirty="0">
                <a:solidFill>
                  <a:srgbClr val="2D75B6"/>
                </a:solidFill>
                <a:latin typeface="Arial"/>
                <a:cs typeface="Arial"/>
              </a:rPr>
              <a:t> </a:t>
            </a:r>
            <a:r>
              <a:rPr sz="750" b="1" dirty="0">
                <a:solidFill>
                  <a:srgbClr val="2D75B6"/>
                </a:solidFill>
                <a:latin typeface="Arial"/>
                <a:cs typeface="Arial"/>
              </a:rPr>
              <a:t>and</a:t>
            </a:r>
            <a:r>
              <a:rPr sz="750" b="1" spc="-27" dirty="0">
                <a:solidFill>
                  <a:srgbClr val="2D75B6"/>
                </a:solidFill>
                <a:latin typeface="Arial"/>
                <a:cs typeface="Arial"/>
              </a:rPr>
              <a:t> </a:t>
            </a:r>
            <a:r>
              <a:rPr sz="750" b="1" dirty="0">
                <a:solidFill>
                  <a:srgbClr val="2D75B6"/>
                </a:solidFill>
                <a:latin typeface="Arial"/>
                <a:cs typeface="Arial"/>
              </a:rPr>
              <a:t>Data</a:t>
            </a:r>
            <a:r>
              <a:rPr sz="750" b="1" spc="-17" dirty="0">
                <a:solidFill>
                  <a:srgbClr val="2D75B6"/>
                </a:solidFill>
                <a:latin typeface="Arial"/>
                <a:cs typeface="Arial"/>
              </a:rPr>
              <a:t> </a:t>
            </a:r>
            <a:r>
              <a:rPr sz="750" b="1" spc="-7" dirty="0">
                <a:solidFill>
                  <a:srgbClr val="2D75B6"/>
                </a:solidFill>
                <a:latin typeface="Arial"/>
                <a:cs typeface="Arial"/>
              </a:rPr>
              <a:t>Science</a:t>
            </a:r>
            <a:endParaRPr sz="750">
              <a:latin typeface="Arial"/>
              <a:cs typeface="Arial"/>
            </a:endParaRPr>
          </a:p>
          <a:p>
            <a:pPr marL="3464" algn="ctr">
              <a:lnSpc>
                <a:spcPts val="955"/>
              </a:lnSpc>
            </a:pPr>
            <a:r>
              <a:rPr sz="818" b="1" dirty="0">
                <a:solidFill>
                  <a:srgbClr val="C00000"/>
                </a:solidFill>
                <a:latin typeface="Arial"/>
                <a:cs typeface="Arial"/>
              </a:rPr>
              <a:t>ASSESSMENT</a:t>
            </a:r>
            <a:r>
              <a:rPr sz="818" b="1" spc="-14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818" b="1" dirty="0">
                <a:solidFill>
                  <a:srgbClr val="C00000"/>
                </a:solidFill>
                <a:latin typeface="Arial"/>
                <a:cs typeface="Arial"/>
              </a:rPr>
              <a:t>TOOL 2</a:t>
            </a:r>
            <a:r>
              <a:rPr sz="818" b="1" spc="-14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818" b="1" dirty="0">
                <a:solidFill>
                  <a:srgbClr val="C00000"/>
                </a:solidFill>
                <a:latin typeface="Arial"/>
                <a:cs typeface="Arial"/>
              </a:rPr>
              <a:t>–</a:t>
            </a:r>
            <a:r>
              <a:rPr sz="818" b="1" spc="-44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818" b="1" dirty="0">
                <a:solidFill>
                  <a:srgbClr val="C00000"/>
                </a:solidFill>
                <a:latin typeface="Arial"/>
                <a:cs typeface="Arial"/>
              </a:rPr>
              <a:t>Technical</a:t>
            </a:r>
            <a:r>
              <a:rPr sz="818" b="1" spc="-17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818" b="1" spc="-7" dirty="0">
                <a:solidFill>
                  <a:srgbClr val="C00000"/>
                </a:solidFill>
                <a:latin typeface="Arial"/>
                <a:cs typeface="Arial"/>
              </a:rPr>
              <a:t>Presentation</a:t>
            </a:r>
            <a:endParaRPr sz="818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901647" y="685974"/>
            <a:ext cx="4391025" cy="6494"/>
          </a:xfrm>
          <a:custGeom>
            <a:avLst/>
            <a:gdLst/>
            <a:ahLst/>
            <a:cxnLst/>
            <a:rect l="l" t="t" r="r" b="b"/>
            <a:pathLst>
              <a:path w="6440170" h="9525">
                <a:moveTo>
                  <a:pt x="6439789" y="0"/>
                </a:moveTo>
                <a:lnTo>
                  <a:pt x="0" y="0"/>
                </a:lnTo>
                <a:lnTo>
                  <a:pt x="0" y="9144"/>
                </a:lnTo>
                <a:lnTo>
                  <a:pt x="6439789" y="9144"/>
                </a:lnTo>
                <a:lnTo>
                  <a:pt x="6439789" y="0"/>
                </a:lnTo>
                <a:close/>
              </a:path>
            </a:pathLst>
          </a:custGeom>
          <a:solidFill>
            <a:srgbClr val="1F4E79"/>
          </a:solidFill>
        </p:spPr>
        <p:txBody>
          <a:bodyPr wrap="square" lIns="0" tIns="0" rIns="0" bIns="0" rtlCol="0"/>
          <a:lstStyle/>
          <a:p>
            <a:endParaRPr sz="1227"/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487326"/>
              </p:ext>
            </p:extLst>
          </p:nvPr>
        </p:nvGraphicFramePr>
        <p:xfrm>
          <a:off x="3914116" y="848071"/>
          <a:ext cx="4366778" cy="124135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797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36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975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36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53699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600" b="1" dirty="0">
                          <a:solidFill>
                            <a:srgbClr val="1F4E79"/>
                          </a:solidFill>
                          <a:latin typeface="Arial"/>
                          <a:cs typeface="Arial"/>
                        </a:rPr>
                        <a:t>Course </a:t>
                      </a:r>
                      <a:r>
                        <a:rPr sz="600" b="1" spc="-10" dirty="0">
                          <a:solidFill>
                            <a:srgbClr val="1F4E79"/>
                          </a:solidFill>
                          <a:latin typeface="Arial"/>
                          <a:cs typeface="Arial"/>
                        </a:rPr>
                        <a:t>Code:</a:t>
                      </a:r>
                      <a:endParaRPr sz="600">
                        <a:latin typeface="Arial"/>
                        <a:cs typeface="Arial"/>
                      </a:endParaRPr>
                    </a:p>
                  </a:txBody>
                  <a:tcPr marL="0" marR="0" marT="25977" marB="0">
                    <a:lnL w="6350">
                      <a:solidFill>
                        <a:srgbClr val="9DC3E6"/>
                      </a:solidFill>
                      <a:prstDash val="solid"/>
                    </a:lnL>
                    <a:lnR w="6350">
                      <a:solidFill>
                        <a:srgbClr val="9DC3E6"/>
                      </a:solidFill>
                      <a:prstDash val="solid"/>
                    </a:lnR>
                    <a:lnT w="6350">
                      <a:solidFill>
                        <a:srgbClr val="9DC3E6"/>
                      </a:solidFill>
                      <a:prstDash val="solid"/>
                    </a:lnT>
                    <a:lnB w="6350">
                      <a:solidFill>
                        <a:srgbClr val="9DC3E6"/>
                      </a:solidFill>
                      <a:prstDash val="solid"/>
                    </a:lnB>
                    <a:solidFill>
                      <a:srgbClr val="D5E3EF"/>
                    </a:solidFill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600" spc="-10" dirty="0">
                          <a:latin typeface="Arial MT"/>
                          <a:cs typeface="Arial MT"/>
                        </a:rPr>
                        <a:t>DSA03</a:t>
                      </a:r>
                      <a:endParaRPr sz="600">
                        <a:latin typeface="Arial MT"/>
                        <a:cs typeface="Arial MT"/>
                      </a:endParaRPr>
                    </a:p>
                  </a:txBody>
                  <a:tcPr marL="0" marR="0" marT="25977" marB="0">
                    <a:lnL w="6350">
                      <a:solidFill>
                        <a:srgbClr val="9DC3E6"/>
                      </a:solidFill>
                      <a:prstDash val="solid"/>
                    </a:lnL>
                    <a:lnR w="6350">
                      <a:solidFill>
                        <a:srgbClr val="9DC3E6"/>
                      </a:solidFill>
                      <a:prstDash val="solid"/>
                    </a:lnR>
                    <a:lnT w="6350">
                      <a:solidFill>
                        <a:srgbClr val="9DC3E6"/>
                      </a:solidFill>
                      <a:prstDash val="solid"/>
                    </a:lnT>
                    <a:lnB w="6350">
                      <a:solidFill>
                        <a:srgbClr val="9DC3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600" b="1" dirty="0">
                          <a:solidFill>
                            <a:srgbClr val="1F4E79"/>
                          </a:solidFill>
                          <a:latin typeface="Arial"/>
                          <a:cs typeface="Arial"/>
                        </a:rPr>
                        <a:t>Course</a:t>
                      </a:r>
                      <a:r>
                        <a:rPr sz="600" b="1" spc="-20" dirty="0">
                          <a:solidFill>
                            <a:srgbClr val="1F4E7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600" b="1" spc="-10" dirty="0">
                          <a:solidFill>
                            <a:srgbClr val="1F4E79"/>
                          </a:solidFill>
                          <a:latin typeface="Arial"/>
                          <a:cs typeface="Arial"/>
                        </a:rPr>
                        <a:t>Title:</a:t>
                      </a:r>
                      <a:endParaRPr sz="600">
                        <a:latin typeface="Arial"/>
                        <a:cs typeface="Arial"/>
                      </a:endParaRPr>
                    </a:p>
                  </a:txBody>
                  <a:tcPr marL="0" marR="0" marT="25977" marB="0">
                    <a:lnL w="6350">
                      <a:solidFill>
                        <a:srgbClr val="9DC3E6"/>
                      </a:solidFill>
                      <a:prstDash val="solid"/>
                    </a:lnL>
                    <a:lnR w="6350">
                      <a:solidFill>
                        <a:srgbClr val="9DC3E6"/>
                      </a:solidFill>
                      <a:prstDash val="solid"/>
                    </a:lnR>
                    <a:lnT w="6350">
                      <a:solidFill>
                        <a:srgbClr val="9DC3E6"/>
                      </a:solidFill>
                      <a:prstDash val="solid"/>
                    </a:lnT>
                    <a:lnB w="6350">
                      <a:solidFill>
                        <a:srgbClr val="9DC3E6"/>
                      </a:solidFill>
                      <a:prstDash val="solid"/>
                    </a:lnB>
                    <a:solidFill>
                      <a:srgbClr val="D5E3EF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600" dirty="0">
                          <a:latin typeface="Arial MT"/>
                          <a:cs typeface="Arial MT"/>
                        </a:rPr>
                        <a:t>Natural</a:t>
                      </a:r>
                      <a:r>
                        <a:rPr sz="6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600" dirty="0">
                          <a:latin typeface="Arial MT"/>
                          <a:cs typeface="Arial MT"/>
                        </a:rPr>
                        <a:t>Language</a:t>
                      </a:r>
                      <a:r>
                        <a:rPr sz="6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600" spc="-10" dirty="0">
                          <a:latin typeface="Arial MT"/>
                          <a:cs typeface="Arial MT"/>
                        </a:rPr>
                        <a:t>Processing</a:t>
                      </a:r>
                      <a:endParaRPr sz="600">
                        <a:latin typeface="Arial MT"/>
                        <a:cs typeface="Arial MT"/>
                      </a:endParaRPr>
                    </a:p>
                  </a:txBody>
                  <a:tcPr marL="0" marR="0" marT="25977" marB="0">
                    <a:lnL w="6350">
                      <a:solidFill>
                        <a:srgbClr val="9DC3E6"/>
                      </a:solidFill>
                      <a:prstDash val="solid"/>
                    </a:lnL>
                    <a:lnR w="6350">
                      <a:solidFill>
                        <a:srgbClr val="9DC3E6"/>
                      </a:solidFill>
                      <a:prstDash val="solid"/>
                    </a:lnR>
                    <a:lnT w="6350">
                      <a:solidFill>
                        <a:srgbClr val="9DC3E6"/>
                      </a:solidFill>
                      <a:prstDash val="solid"/>
                    </a:lnT>
                    <a:lnB w="6350">
                      <a:solidFill>
                        <a:srgbClr val="9DC3E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5485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830"/>
                        </a:spcBef>
                      </a:pPr>
                      <a:r>
                        <a:rPr sz="600" b="1" dirty="0">
                          <a:solidFill>
                            <a:srgbClr val="1F4E79"/>
                          </a:solidFill>
                          <a:latin typeface="Arial"/>
                          <a:cs typeface="Arial"/>
                        </a:rPr>
                        <a:t>CO</a:t>
                      </a:r>
                      <a:r>
                        <a:rPr sz="600" b="1" spc="20" dirty="0">
                          <a:solidFill>
                            <a:srgbClr val="1F4E7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600" b="1" spc="-10" dirty="0">
                          <a:solidFill>
                            <a:srgbClr val="1F4E79"/>
                          </a:solidFill>
                          <a:latin typeface="Arial"/>
                          <a:cs typeface="Arial"/>
                        </a:rPr>
                        <a:t>Assessed:</a:t>
                      </a:r>
                      <a:endParaRPr sz="600">
                        <a:latin typeface="Arial"/>
                        <a:cs typeface="Arial"/>
                      </a:endParaRPr>
                    </a:p>
                  </a:txBody>
                  <a:tcPr marL="0" marR="0" marT="71870" marB="0">
                    <a:lnL w="6350">
                      <a:solidFill>
                        <a:srgbClr val="9DC3E6"/>
                      </a:solidFill>
                      <a:prstDash val="solid"/>
                    </a:lnL>
                    <a:lnR w="6350">
                      <a:solidFill>
                        <a:srgbClr val="9DC3E6"/>
                      </a:solidFill>
                      <a:prstDash val="solid"/>
                    </a:lnR>
                    <a:lnT w="6350">
                      <a:solidFill>
                        <a:srgbClr val="9DC3E6"/>
                      </a:solidFill>
                      <a:prstDash val="solid"/>
                    </a:lnT>
                    <a:lnB w="6350">
                      <a:solidFill>
                        <a:srgbClr val="9DC3E6"/>
                      </a:solidFill>
                      <a:prstDash val="solid"/>
                    </a:lnB>
                    <a:solidFill>
                      <a:srgbClr val="D5E3EF"/>
                    </a:solidFill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830"/>
                        </a:spcBef>
                      </a:pPr>
                      <a:r>
                        <a:rPr sz="600" dirty="0">
                          <a:latin typeface="Arial MT"/>
                          <a:cs typeface="Arial MT"/>
                        </a:rPr>
                        <a:t>CO1</a:t>
                      </a:r>
                      <a:r>
                        <a:rPr sz="6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600" dirty="0">
                          <a:latin typeface="Arial MT"/>
                          <a:cs typeface="Arial MT"/>
                        </a:rPr>
                        <a:t>–</a:t>
                      </a:r>
                      <a:r>
                        <a:rPr sz="6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600" dirty="0">
                          <a:latin typeface="Arial MT"/>
                          <a:cs typeface="Arial MT"/>
                        </a:rPr>
                        <a:t>Imitation</a:t>
                      </a:r>
                      <a:r>
                        <a:rPr sz="6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600" spc="-20" dirty="0">
                          <a:latin typeface="Arial MT"/>
                          <a:cs typeface="Arial MT"/>
                        </a:rPr>
                        <a:t>(L1)</a:t>
                      </a:r>
                      <a:endParaRPr sz="600">
                        <a:latin typeface="Arial MT"/>
                        <a:cs typeface="Arial MT"/>
                      </a:endParaRPr>
                    </a:p>
                  </a:txBody>
                  <a:tcPr marL="0" marR="0" marT="71870" marB="0">
                    <a:lnL w="6350">
                      <a:solidFill>
                        <a:srgbClr val="9DC3E6"/>
                      </a:solidFill>
                      <a:prstDash val="solid"/>
                    </a:lnL>
                    <a:lnR w="6350">
                      <a:solidFill>
                        <a:srgbClr val="9DC3E6"/>
                      </a:solidFill>
                      <a:prstDash val="solid"/>
                    </a:lnR>
                    <a:lnT w="6350">
                      <a:solidFill>
                        <a:srgbClr val="9DC3E6"/>
                      </a:solidFill>
                      <a:prstDash val="solid"/>
                    </a:lnT>
                    <a:lnB w="6350">
                      <a:solidFill>
                        <a:srgbClr val="9DC3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830"/>
                        </a:spcBef>
                      </a:pPr>
                      <a:r>
                        <a:rPr sz="600" b="1" spc="-10" dirty="0">
                          <a:solidFill>
                            <a:srgbClr val="1F4E79"/>
                          </a:solidFill>
                          <a:latin typeface="Arial"/>
                          <a:cs typeface="Arial"/>
                        </a:rPr>
                        <a:t>Assessment:</a:t>
                      </a:r>
                      <a:endParaRPr sz="600">
                        <a:latin typeface="Arial"/>
                        <a:cs typeface="Arial"/>
                      </a:endParaRPr>
                    </a:p>
                  </a:txBody>
                  <a:tcPr marL="0" marR="0" marT="71870" marB="0">
                    <a:lnL w="6350">
                      <a:solidFill>
                        <a:srgbClr val="9DC3E6"/>
                      </a:solidFill>
                      <a:prstDash val="solid"/>
                    </a:lnL>
                    <a:lnR w="6350">
                      <a:solidFill>
                        <a:srgbClr val="9DC3E6"/>
                      </a:solidFill>
                      <a:prstDash val="solid"/>
                    </a:lnR>
                    <a:lnT w="6350">
                      <a:solidFill>
                        <a:srgbClr val="9DC3E6"/>
                      </a:solidFill>
                      <a:prstDash val="solid"/>
                    </a:lnT>
                    <a:lnB w="6350">
                      <a:solidFill>
                        <a:srgbClr val="9DC3E6"/>
                      </a:solidFill>
                      <a:prstDash val="solid"/>
                    </a:lnB>
                    <a:solidFill>
                      <a:srgbClr val="D5E3EF"/>
                    </a:solidFill>
                  </a:tcPr>
                </a:tc>
                <a:tc>
                  <a:txBody>
                    <a:bodyPr/>
                    <a:lstStyle/>
                    <a:p>
                      <a:pPr marL="76200" marR="384175">
                        <a:lnSpc>
                          <a:spcPts val="1030"/>
                        </a:lnSpc>
                        <a:spcBef>
                          <a:spcPts val="375"/>
                        </a:spcBef>
                      </a:pPr>
                      <a:r>
                        <a:rPr sz="600" dirty="0">
                          <a:latin typeface="Arial MT"/>
                          <a:cs typeface="Arial MT"/>
                        </a:rPr>
                        <a:t>Assessment</a:t>
                      </a:r>
                      <a:r>
                        <a:rPr sz="6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600" dirty="0">
                          <a:latin typeface="Arial MT"/>
                          <a:cs typeface="Arial MT"/>
                        </a:rPr>
                        <a:t>Tool</a:t>
                      </a:r>
                      <a:r>
                        <a:rPr sz="6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600" dirty="0">
                          <a:latin typeface="Arial MT"/>
                          <a:cs typeface="Arial MT"/>
                        </a:rPr>
                        <a:t>2</a:t>
                      </a:r>
                      <a:r>
                        <a:rPr sz="6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600" dirty="0">
                          <a:latin typeface="Arial MT"/>
                          <a:cs typeface="Arial MT"/>
                        </a:rPr>
                        <a:t>–</a:t>
                      </a:r>
                      <a:r>
                        <a:rPr sz="6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600" spc="-10" dirty="0">
                          <a:latin typeface="Arial MT"/>
                          <a:cs typeface="Arial MT"/>
                        </a:rPr>
                        <a:t>Technical Presentation</a:t>
                      </a:r>
                      <a:endParaRPr sz="600">
                        <a:latin typeface="Arial MT"/>
                        <a:cs typeface="Arial MT"/>
                      </a:endParaRPr>
                    </a:p>
                  </a:txBody>
                  <a:tcPr marL="0" marR="0" marT="32472" marB="0">
                    <a:lnL w="6350">
                      <a:solidFill>
                        <a:srgbClr val="9DC3E6"/>
                      </a:solidFill>
                      <a:prstDash val="solid"/>
                    </a:lnL>
                    <a:lnR w="6350">
                      <a:solidFill>
                        <a:srgbClr val="9DC3E6"/>
                      </a:solidFill>
                      <a:prstDash val="solid"/>
                    </a:lnR>
                    <a:lnT w="6350">
                      <a:solidFill>
                        <a:srgbClr val="9DC3E6"/>
                      </a:solidFill>
                      <a:prstDash val="solid"/>
                    </a:lnT>
                    <a:lnB w="6350">
                      <a:solidFill>
                        <a:srgbClr val="9DC3E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4090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600" b="1" spc="-10" dirty="0">
                          <a:solidFill>
                            <a:srgbClr val="1F4E79"/>
                          </a:solidFill>
                          <a:latin typeface="Arial"/>
                          <a:cs typeface="Arial"/>
                        </a:rPr>
                        <a:t>Weightage:</a:t>
                      </a:r>
                      <a:endParaRPr sz="600">
                        <a:latin typeface="Arial"/>
                        <a:cs typeface="Arial"/>
                      </a:endParaRPr>
                    </a:p>
                  </a:txBody>
                  <a:tcPr marL="0" marR="0" marT="29874" marB="0">
                    <a:lnL w="6350">
                      <a:solidFill>
                        <a:srgbClr val="9DC3E6"/>
                      </a:solidFill>
                      <a:prstDash val="solid"/>
                    </a:lnL>
                    <a:lnR w="6350">
                      <a:solidFill>
                        <a:srgbClr val="9DC3E6"/>
                      </a:solidFill>
                      <a:prstDash val="solid"/>
                    </a:lnR>
                    <a:lnT w="6350">
                      <a:solidFill>
                        <a:srgbClr val="9DC3E6"/>
                      </a:solidFill>
                      <a:prstDash val="solid"/>
                    </a:lnT>
                    <a:lnB w="6350">
                      <a:solidFill>
                        <a:srgbClr val="9DC3E6"/>
                      </a:solidFill>
                      <a:prstDash val="solid"/>
                    </a:lnB>
                    <a:solidFill>
                      <a:srgbClr val="D5E3EF"/>
                    </a:solidFill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600" dirty="0">
                          <a:latin typeface="Arial MT"/>
                          <a:cs typeface="Arial MT"/>
                        </a:rPr>
                        <a:t>30%</a:t>
                      </a:r>
                      <a:r>
                        <a:rPr sz="6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600" dirty="0">
                          <a:latin typeface="Arial MT"/>
                          <a:cs typeface="Arial MT"/>
                        </a:rPr>
                        <a:t>of </a:t>
                      </a:r>
                      <a:r>
                        <a:rPr sz="600" spc="-25" dirty="0">
                          <a:latin typeface="Arial MT"/>
                          <a:cs typeface="Arial MT"/>
                        </a:rPr>
                        <a:t>CIA</a:t>
                      </a:r>
                      <a:endParaRPr sz="600">
                        <a:latin typeface="Arial MT"/>
                        <a:cs typeface="Arial MT"/>
                      </a:endParaRPr>
                    </a:p>
                  </a:txBody>
                  <a:tcPr marL="0" marR="0" marT="29874" marB="0">
                    <a:lnL w="6350">
                      <a:solidFill>
                        <a:srgbClr val="9DC3E6"/>
                      </a:solidFill>
                      <a:prstDash val="solid"/>
                    </a:lnL>
                    <a:lnR w="6350">
                      <a:solidFill>
                        <a:srgbClr val="9DC3E6"/>
                      </a:solidFill>
                      <a:prstDash val="solid"/>
                    </a:lnR>
                    <a:lnT w="6350">
                      <a:solidFill>
                        <a:srgbClr val="9DC3E6"/>
                      </a:solidFill>
                      <a:prstDash val="solid"/>
                    </a:lnT>
                    <a:lnB w="6350">
                      <a:solidFill>
                        <a:srgbClr val="9DC3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9DC3E6"/>
                      </a:solidFill>
                      <a:prstDash val="solid"/>
                    </a:lnL>
                    <a:lnR w="6350">
                      <a:solidFill>
                        <a:srgbClr val="9DC3E6"/>
                      </a:solidFill>
                      <a:prstDash val="solid"/>
                    </a:lnR>
                    <a:lnT w="6350">
                      <a:solidFill>
                        <a:srgbClr val="9DC3E6"/>
                      </a:solidFill>
                      <a:prstDash val="solid"/>
                    </a:lnT>
                    <a:lnB w="6350">
                      <a:solidFill>
                        <a:srgbClr val="9DC3E6"/>
                      </a:solidFill>
                      <a:prstDash val="solid"/>
                    </a:lnB>
                    <a:solidFill>
                      <a:srgbClr val="D5E3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9DC3E6"/>
                      </a:solidFill>
                      <a:prstDash val="solid"/>
                    </a:lnL>
                    <a:lnR w="6350">
                      <a:solidFill>
                        <a:srgbClr val="9DC3E6"/>
                      </a:solidFill>
                      <a:prstDash val="solid"/>
                    </a:lnR>
                    <a:lnT w="6350">
                      <a:solidFill>
                        <a:srgbClr val="9DC3E6"/>
                      </a:solidFill>
                      <a:prstDash val="solid"/>
                    </a:lnT>
                    <a:lnB w="6350">
                      <a:solidFill>
                        <a:srgbClr val="9DC3E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3669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919"/>
                        </a:spcBef>
                      </a:pPr>
                      <a:r>
                        <a:rPr sz="600" b="1" dirty="0">
                          <a:solidFill>
                            <a:srgbClr val="1F4E79"/>
                          </a:solidFill>
                          <a:latin typeface="Arial"/>
                          <a:cs typeface="Arial"/>
                        </a:rPr>
                        <a:t>CO1</a:t>
                      </a:r>
                      <a:r>
                        <a:rPr sz="600" b="1" spc="20" dirty="0">
                          <a:solidFill>
                            <a:srgbClr val="1F4E7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600" b="1" spc="-10" dirty="0">
                          <a:solidFill>
                            <a:srgbClr val="1F4E79"/>
                          </a:solidFill>
                          <a:latin typeface="Arial"/>
                          <a:cs typeface="Arial"/>
                        </a:rPr>
                        <a:t>Statement:</a:t>
                      </a:r>
                      <a:endParaRPr sz="600">
                        <a:latin typeface="Arial"/>
                        <a:cs typeface="Arial"/>
                      </a:endParaRPr>
                    </a:p>
                  </a:txBody>
                  <a:tcPr marL="0" marR="0" marT="79663" marB="0">
                    <a:lnL w="6350">
                      <a:solidFill>
                        <a:srgbClr val="9DC3E6"/>
                      </a:solidFill>
                      <a:prstDash val="solid"/>
                    </a:lnL>
                    <a:lnR w="6350">
                      <a:solidFill>
                        <a:srgbClr val="9DC3E6"/>
                      </a:solidFill>
                      <a:prstDash val="solid"/>
                    </a:lnR>
                    <a:lnT w="6350">
                      <a:solidFill>
                        <a:srgbClr val="9DC3E6"/>
                      </a:solidFill>
                      <a:prstDash val="solid"/>
                    </a:lnT>
                    <a:lnB w="6350">
                      <a:solidFill>
                        <a:srgbClr val="9DC3E6"/>
                      </a:solidFill>
                      <a:prstDash val="solid"/>
                    </a:lnB>
                    <a:solidFill>
                      <a:srgbClr val="D5E3EF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75565" marR="311785">
                        <a:lnSpc>
                          <a:spcPts val="1150"/>
                        </a:lnSpc>
                        <a:spcBef>
                          <a:spcPts val="400"/>
                        </a:spcBef>
                      </a:pPr>
                      <a:r>
                        <a:rPr sz="700" dirty="0">
                          <a:latin typeface="Arial MT"/>
                          <a:cs typeface="Arial MT"/>
                        </a:rPr>
                        <a:t>Analyse</a:t>
                      </a:r>
                      <a:r>
                        <a:rPr sz="7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NLP</a:t>
                      </a:r>
                      <a:r>
                        <a:rPr sz="7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models,</a:t>
                      </a:r>
                      <a:r>
                        <a:rPr sz="7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regular</a:t>
                      </a:r>
                      <a:r>
                        <a:rPr sz="7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expression</a:t>
                      </a:r>
                      <a:r>
                        <a:rPr sz="7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patterns,</a:t>
                      </a:r>
                      <a:r>
                        <a:rPr sz="7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finite</a:t>
                      </a:r>
                      <a:r>
                        <a:rPr sz="7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state</a:t>
                      </a:r>
                      <a:r>
                        <a:rPr sz="7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automata,</a:t>
                      </a:r>
                      <a:r>
                        <a:rPr sz="700" spc="-5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spc="-10" dirty="0">
                          <a:latin typeface="Arial MT"/>
                          <a:cs typeface="Arial MT"/>
                        </a:rPr>
                        <a:t>morphological 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processing</a:t>
                      </a:r>
                      <a:r>
                        <a:rPr sz="7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techniques</a:t>
                      </a:r>
                      <a:r>
                        <a:rPr sz="7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and</a:t>
                      </a:r>
                      <a:r>
                        <a:rPr sz="7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to</a:t>
                      </a:r>
                      <a:r>
                        <a:rPr sz="7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interpret</a:t>
                      </a:r>
                      <a:r>
                        <a:rPr sz="7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language</a:t>
                      </a:r>
                      <a:r>
                        <a:rPr sz="7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processing. (BL-</a:t>
                      </a:r>
                      <a:r>
                        <a:rPr sz="700" spc="-25" dirty="0">
                          <a:latin typeface="Arial MT"/>
                          <a:cs typeface="Arial MT"/>
                        </a:rPr>
                        <a:t>3)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T="34636" marB="0">
                    <a:lnL w="6350">
                      <a:solidFill>
                        <a:srgbClr val="9DC3E6"/>
                      </a:solidFill>
                      <a:prstDash val="solid"/>
                    </a:lnL>
                    <a:lnR w="6350">
                      <a:solidFill>
                        <a:srgbClr val="9DC3E6"/>
                      </a:solidFill>
                      <a:prstDash val="solid"/>
                    </a:lnR>
                    <a:lnT w="6350">
                      <a:solidFill>
                        <a:srgbClr val="9DC3E6"/>
                      </a:solidFill>
                      <a:prstDash val="solid"/>
                    </a:lnT>
                    <a:lnB w="6350">
                      <a:solidFill>
                        <a:srgbClr val="9DC3E6"/>
                      </a:solidFill>
                      <a:prstDash val="solid"/>
                    </a:lnB>
                    <a:solidFill>
                      <a:srgbClr val="EBF3F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4090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600" b="1" dirty="0">
                          <a:solidFill>
                            <a:srgbClr val="1F4E79"/>
                          </a:solidFill>
                          <a:latin typeface="Arial"/>
                          <a:cs typeface="Arial"/>
                        </a:rPr>
                        <a:t>Student</a:t>
                      </a:r>
                      <a:r>
                        <a:rPr sz="600" b="1" spc="-15" dirty="0">
                          <a:solidFill>
                            <a:srgbClr val="1F4E7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600" b="1" spc="-10" dirty="0">
                          <a:solidFill>
                            <a:srgbClr val="1F4E79"/>
                          </a:solidFill>
                          <a:latin typeface="Arial"/>
                          <a:cs typeface="Arial"/>
                        </a:rPr>
                        <a:t>Name:</a:t>
                      </a:r>
                      <a:endParaRPr sz="600">
                        <a:latin typeface="Arial"/>
                        <a:cs typeface="Arial"/>
                      </a:endParaRPr>
                    </a:p>
                  </a:txBody>
                  <a:tcPr marL="0" marR="0" marT="29874" marB="0">
                    <a:lnL w="6350">
                      <a:solidFill>
                        <a:srgbClr val="9DC3E6"/>
                      </a:solidFill>
                      <a:prstDash val="solid"/>
                    </a:lnL>
                    <a:lnR w="6350">
                      <a:solidFill>
                        <a:srgbClr val="9DC3E6"/>
                      </a:solidFill>
                      <a:prstDash val="solid"/>
                    </a:lnR>
                    <a:lnT w="6350">
                      <a:solidFill>
                        <a:srgbClr val="9DC3E6"/>
                      </a:solidFill>
                      <a:prstDash val="solid"/>
                    </a:lnT>
                    <a:lnB w="6350">
                      <a:solidFill>
                        <a:srgbClr val="9DC3E6"/>
                      </a:solidFill>
                      <a:prstDash val="solid"/>
                    </a:lnB>
                    <a:solidFill>
                      <a:srgbClr val="D5E3EF"/>
                    </a:solidFill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lang="en-IN" sz="700" dirty="0">
                          <a:latin typeface="Arial MT"/>
                          <a:cs typeface="Arial MT"/>
                        </a:rPr>
                        <a:t>HDN Praharshini</a:t>
                      </a:r>
                      <a:endParaRPr sz="700" dirty="0">
                        <a:latin typeface="Arial MT"/>
                        <a:cs typeface="Arial MT"/>
                      </a:endParaRPr>
                    </a:p>
                  </a:txBody>
                  <a:tcPr marL="0" marR="0" marT="27709" marB="0">
                    <a:lnL w="6350">
                      <a:solidFill>
                        <a:srgbClr val="9DC3E6"/>
                      </a:solidFill>
                      <a:prstDash val="solid"/>
                    </a:lnL>
                    <a:lnR w="6350">
                      <a:solidFill>
                        <a:srgbClr val="9DC3E6"/>
                      </a:solidFill>
                      <a:prstDash val="solid"/>
                    </a:lnR>
                    <a:lnT w="6350">
                      <a:solidFill>
                        <a:srgbClr val="9DC3E6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600" b="1" dirty="0">
                          <a:solidFill>
                            <a:srgbClr val="1F4E79"/>
                          </a:solidFill>
                          <a:latin typeface="Arial"/>
                          <a:cs typeface="Arial"/>
                        </a:rPr>
                        <a:t>Reg.</a:t>
                      </a:r>
                      <a:r>
                        <a:rPr sz="600" b="1" spc="10" dirty="0">
                          <a:solidFill>
                            <a:srgbClr val="1F4E7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600" b="1" spc="-20" dirty="0">
                          <a:solidFill>
                            <a:srgbClr val="1F4E79"/>
                          </a:solidFill>
                          <a:latin typeface="Arial"/>
                          <a:cs typeface="Arial"/>
                        </a:rPr>
                        <a:t>No.:</a:t>
                      </a:r>
                      <a:endParaRPr sz="600">
                        <a:latin typeface="Arial"/>
                        <a:cs typeface="Arial"/>
                      </a:endParaRPr>
                    </a:p>
                  </a:txBody>
                  <a:tcPr marL="0" marR="0" marT="29874" marB="0">
                    <a:lnL w="6350">
                      <a:solidFill>
                        <a:srgbClr val="9DC3E6"/>
                      </a:solidFill>
                      <a:prstDash val="solid"/>
                    </a:lnL>
                    <a:lnR w="6350">
                      <a:solidFill>
                        <a:srgbClr val="9DC3E6"/>
                      </a:solidFill>
                      <a:prstDash val="solid"/>
                    </a:lnR>
                    <a:lnT w="6350">
                      <a:solidFill>
                        <a:srgbClr val="9DC3E6"/>
                      </a:solidFill>
                      <a:prstDash val="solid"/>
                    </a:lnT>
                    <a:lnB w="6350">
                      <a:solidFill>
                        <a:srgbClr val="9DC3E6"/>
                      </a:solidFill>
                      <a:prstDash val="solid"/>
                    </a:lnB>
                    <a:solidFill>
                      <a:srgbClr val="D5E3EF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700" spc="-10" dirty="0">
                          <a:latin typeface="Arial MT"/>
                          <a:cs typeface="Arial MT"/>
                        </a:rPr>
                        <a:t>192424</a:t>
                      </a:r>
                      <a:r>
                        <a:rPr lang="en-IN" sz="700" spc="-10" dirty="0">
                          <a:latin typeface="Arial MT"/>
                          <a:cs typeface="Arial MT"/>
                        </a:rPr>
                        <a:t>085</a:t>
                      </a:r>
                      <a:endParaRPr sz="700" dirty="0">
                        <a:latin typeface="Arial MT"/>
                        <a:cs typeface="Arial MT"/>
                      </a:endParaRPr>
                    </a:p>
                  </a:txBody>
                  <a:tcPr marL="0" marR="0" marT="27709" marB="0">
                    <a:lnL w="6350">
                      <a:solidFill>
                        <a:srgbClr val="9DC3E6"/>
                      </a:solidFill>
                      <a:prstDash val="solid"/>
                    </a:lnL>
                    <a:lnR w="6350">
                      <a:solidFill>
                        <a:srgbClr val="9DC3E6"/>
                      </a:solidFill>
                      <a:prstDash val="solid"/>
                    </a:lnR>
                    <a:lnT w="6350">
                      <a:solidFill>
                        <a:srgbClr val="9DC3E6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5821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600" b="1" dirty="0">
                          <a:solidFill>
                            <a:srgbClr val="1F4E79"/>
                          </a:solidFill>
                          <a:latin typeface="Arial"/>
                          <a:cs typeface="Arial"/>
                        </a:rPr>
                        <a:t>Section</a:t>
                      </a:r>
                      <a:r>
                        <a:rPr sz="600" b="1" spc="-25" dirty="0">
                          <a:solidFill>
                            <a:srgbClr val="1F4E7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600" b="1" dirty="0">
                          <a:solidFill>
                            <a:srgbClr val="1F4E79"/>
                          </a:solidFill>
                          <a:latin typeface="Arial"/>
                          <a:cs typeface="Arial"/>
                        </a:rPr>
                        <a:t>/</a:t>
                      </a:r>
                      <a:r>
                        <a:rPr sz="600" b="1" spc="20" dirty="0">
                          <a:solidFill>
                            <a:srgbClr val="1F4E7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600" b="1" spc="-10" dirty="0">
                          <a:solidFill>
                            <a:srgbClr val="1F4E79"/>
                          </a:solidFill>
                          <a:latin typeface="Arial"/>
                          <a:cs typeface="Arial"/>
                        </a:rPr>
                        <a:t>Batch:</a:t>
                      </a:r>
                      <a:endParaRPr sz="600">
                        <a:latin typeface="Arial"/>
                        <a:cs typeface="Arial"/>
                      </a:endParaRPr>
                    </a:p>
                  </a:txBody>
                  <a:tcPr marL="0" marR="0" marT="29874" marB="0">
                    <a:lnL w="6350">
                      <a:solidFill>
                        <a:srgbClr val="9DC3E6"/>
                      </a:solidFill>
                      <a:prstDash val="solid"/>
                    </a:lnL>
                    <a:lnR w="6350">
                      <a:solidFill>
                        <a:srgbClr val="9DC3E6"/>
                      </a:solidFill>
                      <a:prstDash val="solid"/>
                    </a:lnR>
                    <a:lnT w="6350">
                      <a:solidFill>
                        <a:srgbClr val="9DC3E6"/>
                      </a:solidFill>
                      <a:prstDash val="solid"/>
                    </a:lnT>
                    <a:lnB w="6350">
                      <a:solidFill>
                        <a:srgbClr val="9DC3E6"/>
                      </a:solidFill>
                      <a:prstDash val="solid"/>
                    </a:lnB>
                    <a:solidFill>
                      <a:srgbClr val="D5E3EF"/>
                    </a:solidFill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700" spc="-10" dirty="0">
                          <a:latin typeface="Arial MT"/>
                          <a:cs typeface="Arial MT"/>
                        </a:rPr>
                        <a:t>C/2024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T="27709" marB="0">
                    <a:lnL w="6350">
                      <a:solidFill>
                        <a:srgbClr val="9DC3E6"/>
                      </a:solidFill>
                      <a:prstDash val="solid"/>
                    </a:lnL>
                    <a:lnR w="6350">
                      <a:solidFill>
                        <a:srgbClr val="9DC3E6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9DC3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600" b="1" spc="-10" dirty="0">
                          <a:solidFill>
                            <a:srgbClr val="1F4E79"/>
                          </a:solidFill>
                          <a:latin typeface="Arial"/>
                          <a:cs typeface="Arial"/>
                        </a:rPr>
                        <a:t>Date:</a:t>
                      </a:r>
                      <a:endParaRPr sz="600">
                        <a:latin typeface="Arial"/>
                        <a:cs typeface="Arial"/>
                      </a:endParaRPr>
                    </a:p>
                  </a:txBody>
                  <a:tcPr marL="0" marR="0" marT="29874" marB="0">
                    <a:lnL w="6350">
                      <a:solidFill>
                        <a:srgbClr val="9DC3E6"/>
                      </a:solidFill>
                      <a:prstDash val="solid"/>
                    </a:lnL>
                    <a:lnR w="6350">
                      <a:solidFill>
                        <a:srgbClr val="9DC3E6"/>
                      </a:solidFill>
                      <a:prstDash val="solid"/>
                    </a:lnR>
                    <a:lnT w="6350">
                      <a:solidFill>
                        <a:srgbClr val="9DC3E6"/>
                      </a:solidFill>
                      <a:prstDash val="solid"/>
                    </a:lnT>
                    <a:lnB w="6350">
                      <a:solidFill>
                        <a:srgbClr val="9DC3E6"/>
                      </a:solidFill>
                      <a:prstDash val="solid"/>
                    </a:lnB>
                    <a:solidFill>
                      <a:srgbClr val="D5E3EF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700" spc="-10" dirty="0">
                          <a:latin typeface="Arial MT"/>
                          <a:cs typeface="Arial MT"/>
                        </a:rPr>
                        <a:t>16-07-</a:t>
                      </a:r>
                      <a:r>
                        <a:rPr sz="700" spc="-20" dirty="0">
                          <a:latin typeface="Arial MT"/>
                          <a:cs typeface="Arial MT"/>
                        </a:rPr>
                        <a:t>2026</a:t>
                      </a:r>
                      <a:endParaRPr sz="700" dirty="0">
                        <a:latin typeface="Arial MT"/>
                        <a:cs typeface="Arial MT"/>
                      </a:endParaRPr>
                    </a:p>
                  </a:txBody>
                  <a:tcPr marL="0" marR="0" marT="27709" marB="0">
                    <a:lnL w="6350">
                      <a:solidFill>
                        <a:srgbClr val="9DC3E6"/>
                      </a:solidFill>
                      <a:prstDash val="solid"/>
                    </a:lnL>
                    <a:lnR w="6350">
                      <a:solidFill>
                        <a:srgbClr val="9DC3E6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9DC3E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3916194" y="2132820"/>
            <a:ext cx="4365914" cy="533416"/>
          </a:xfrm>
          <a:prstGeom prst="rect">
            <a:avLst/>
          </a:prstGeom>
          <a:solidFill>
            <a:srgbClr val="FFF8E6"/>
          </a:solidFill>
          <a:ln w="6095">
            <a:solidFill>
              <a:srgbClr val="1F4E79"/>
            </a:solidFill>
          </a:ln>
        </p:spPr>
        <p:txBody>
          <a:bodyPr vert="horz" wrap="square" lIns="0" tIns="38100" rIns="0" bIns="0" rtlCol="0">
            <a:spAutoFit/>
          </a:bodyPr>
          <a:lstStyle/>
          <a:p>
            <a:pPr marL="87022">
              <a:lnSpc>
                <a:spcPts val="805"/>
              </a:lnSpc>
              <a:spcBef>
                <a:spcPts val="300"/>
              </a:spcBef>
            </a:pPr>
            <a:r>
              <a:rPr sz="682" b="1" dirty="0">
                <a:solidFill>
                  <a:srgbClr val="C00000"/>
                </a:solidFill>
                <a:latin typeface="Arial"/>
                <a:cs typeface="Arial"/>
              </a:rPr>
              <a:t>Code</a:t>
            </a:r>
            <a:r>
              <a:rPr sz="682" b="1" spc="-17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682" b="1" dirty="0">
                <a:solidFill>
                  <a:srgbClr val="C00000"/>
                </a:solidFill>
                <a:latin typeface="Arial"/>
                <a:cs typeface="Arial"/>
              </a:rPr>
              <a:t>of</a:t>
            </a:r>
            <a:r>
              <a:rPr sz="682" b="1" spc="7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682" b="1" spc="-7" dirty="0">
                <a:solidFill>
                  <a:srgbClr val="C00000"/>
                </a:solidFill>
                <a:latin typeface="Arial"/>
                <a:cs typeface="Arial"/>
              </a:rPr>
              <a:t>Conduct</a:t>
            </a:r>
            <a:endParaRPr sz="682" dirty="0">
              <a:latin typeface="Arial"/>
              <a:cs typeface="Arial"/>
            </a:endParaRPr>
          </a:p>
          <a:p>
            <a:pPr marL="87022" marR="119925">
              <a:lnSpc>
                <a:spcPct val="95700"/>
              </a:lnSpc>
              <a:spcBef>
                <a:spcPts val="17"/>
              </a:spcBef>
            </a:pPr>
            <a:r>
              <a:rPr sz="614" i="1" dirty="0">
                <a:latin typeface="Arial"/>
                <a:cs typeface="Arial"/>
              </a:rPr>
              <a:t>I</a:t>
            </a:r>
            <a:r>
              <a:rPr sz="614" i="1" spc="-10" dirty="0">
                <a:latin typeface="Arial"/>
                <a:cs typeface="Arial"/>
              </a:rPr>
              <a:t> </a:t>
            </a:r>
            <a:r>
              <a:rPr lang="en-IN" sz="614" i="1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HDN PRAHARSHINI(192424085</a:t>
            </a:r>
            <a:r>
              <a:rPr sz="614" i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)</a:t>
            </a:r>
            <a:r>
              <a:rPr sz="614" i="1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614" i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(</a:t>
            </a:r>
            <a:r>
              <a:rPr sz="614" i="1" dirty="0">
                <a:latin typeface="Arial"/>
                <a:cs typeface="Arial"/>
              </a:rPr>
              <a:t>Name</a:t>
            </a:r>
            <a:r>
              <a:rPr sz="614" i="1" spc="-20" dirty="0">
                <a:latin typeface="Arial"/>
                <a:cs typeface="Arial"/>
              </a:rPr>
              <a:t> </a:t>
            </a:r>
            <a:r>
              <a:rPr sz="614" i="1" dirty="0">
                <a:latin typeface="Arial"/>
                <a:cs typeface="Arial"/>
              </a:rPr>
              <a:t>/</a:t>
            </a:r>
            <a:r>
              <a:rPr sz="614" i="1" spc="-10" dirty="0">
                <a:latin typeface="Arial"/>
                <a:cs typeface="Arial"/>
              </a:rPr>
              <a:t> </a:t>
            </a:r>
            <a:r>
              <a:rPr sz="614" i="1" dirty="0">
                <a:latin typeface="Arial"/>
                <a:cs typeface="Arial"/>
              </a:rPr>
              <a:t>Reg</a:t>
            </a:r>
            <a:r>
              <a:rPr sz="614" i="1" spc="-3" dirty="0">
                <a:latin typeface="Arial"/>
                <a:cs typeface="Arial"/>
              </a:rPr>
              <a:t> </a:t>
            </a:r>
            <a:r>
              <a:rPr sz="614" i="1" dirty="0">
                <a:latin typeface="Arial"/>
                <a:cs typeface="Arial"/>
              </a:rPr>
              <a:t>No)</a:t>
            </a:r>
            <a:r>
              <a:rPr sz="614" i="1" spc="-10" dirty="0">
                <a:latin typeface="Arial"/>
                <a:cs typeface="Arial"/>
              </a:rPr>
              <a:t> </a:t>
            </a:r>
            <a:r>
              <a:rPr sz="614" i="1" dirty="0">
                <a:latin typeface="Arial"/>
                <a:cs typeface="Arial"/>
              </a:rPr>
              <a:t>certify</a:t>
            </a:r>
            <a:r>
              <a:rPr sz="614" i="1" spc="-20" dirty="0">
                <a:latin typeface="Arial"/>
                <a:cs typeface="Arial"/>
              </a:rPr>
              <a:t> </a:t>
            </a:r>
            <a:r>
              <a:rPr sz="614" i="1" dirty="0">
                <a:latin typeface="Arial"/>
                <a:cs typeface="Arial"/>
              </a:rPr>
              <a:t>that</a:t>
            </a:r>
            <a:r>
              <a:rPr sz="614" i="1" spc="-10" dirty="0">
                <a:latin typeface="Arial"/>
                <a:cs typeface="Arial"/>
              </a:rPr>
              <a:t> </a:t>
            </a:r>
            <a:r>
              <a:rPr sz="614" i="1" dirty="0">
                <a:latin typeface="Arial"/>
                <a:cs typeface="Arial"/>
              </a:rPr>
              <a:t>this submission</a:t>
            </a:r>
            <a:r>
              <a:rPr sz="614" i="1" spc="10" dirty="0">
                <a:latin typeface="Arial"/>
                <a:cs typeface="Arial"/>
              </a:rPr>
              <a:t> </a:t>
            </a:r>
            <a:r>
              <a:rPr sz="614" i="1" dirty="0">
                <a:latin typeface="Arial"/>
                <a:cs typeface="Arial"/>
              </a:rPr>
              <a:t>is my</a:t>
            </a:r>
            <a:r>
              <a:rPr sz="614" i="1" spc="-3" dirty="0">
                <a:latin typeface="Arial"/>
                <a:cs typeface="Arial"/>
              </a:rPr>
              <a:t> </a:t>
            </a:r>
            <a:r>
              <a:rPr sz="614" i="1" dirty="0">
                <a:latin typeface="Arial"/>
                <a:cs typeface="Arial"/>
              </a:rPr>
              <a:t>original</a:t>
            </a:r>
            <a:r>
              <a:rPr sz="614" i="1" spc="-24" dirty="0">
                <a:latin typeface="Arial"/>
                <a:cs typeface="Arial"/>
              </a:rPr>
              <a:t> </a:t>
            </a:r>
            <a:r>
              <a:rPr sz="614" i="1" dirty="0">
                <a:latin typeface="Arial"/>
                <a:cs typeface="Arial"/>
              </a:rPr>
              <a:t>work</a:t>
            </a:r>
            <a:r>
              <a:rPr sz="614" i="1" spc="-17" dirty="0">
                <a:latin typeface="Arial"/>
                <a:cs typeface="Arial"/>
              </a:rPr>
              <a:t> </a:t>
            </a:r>
            <a:r>
              <a:rPr sz="614" i="1" dirty="0">
                <a:latin typeface="Arial"/>
                <a:cs typeface="Arial"/>
              </a:rPr>
              <a:t>and</a:t>
            </a:r>
            <a:r>
              <a:rPr sz="614" i="1" spc="-17" dirty="0">
                <a:latin typeface="Arial"/>
                <a:cs typeface="Arial"/>
              </a:rPr>
              <a:t> </a:t>
            </a:r>
            <a:r>
              <a:rPr sz="614" i="1" dirty="0">
                <a:latin typeface="Arial"/>
                <a:cs typeface="Arial"/>
              </a:rPr>
              <a:t>that</a:t>
            </a:r>
            <a:r>
              <a:rPr sz="614" i="1" spc="-10" dirty="0">
                <a:latin typeface="Arial"/>
                <a:cs typeface="Arial"/>
              </a:rPr>
              <a:t> </a:t>
            </a:r>
            <a:r>
              <a:rPr sz="614" i="1" dirty="0">
                <a:latin typeface="Arial"/>
                <a:cs typeface="Arial"/>
              </a:rPr>
              <a:t>I</a:t>
            </a:r>
            <a:r>
              <a:rPr sz="614" i="1" spc="-14" dirty="0">
                <a:latin typeface="Arial"/>
                <a:cs typeface="Arial"/>
              </a:rPr>
              <a:t> </a:t>
            </a:r>
            <a:r>
              <a:rPr sz="614" i="1" dirty="0">
                <a:latin typeface="Arial"/>
                <a:cs typeface="Arial"/>
              </a:rPr>
              <a:t>have</a:t>
            </a:r>
            <a:r>
              <a:rPr sz="614" i="1" spc="-17" dirty="0">
                <a:latin typeface="Arial"/>
                <a:cs typeface="Arial"/>
              </a:rPr>
              <a:t> </a:t>
            </a:r>
            <a:r>
              <a:rPr sz="614" i="1" dirty="0">
                <a:latin typeface="Arial"/>
                <a:cs typeface="Arial"/>
              </a:rPr>
              <a:t>adhered</a:t>
            </a:r>
            <a:r>
              <a:rPr sz="614" i="1" spc="-17" dirty="0">
                <a:latin typeface="Arial"/>
                <a:cs typeface="Arial"/>
              </a:rPr>
              <a:t> </a:t>
            </a:r>
            <a:r>
              <a:rPr sz="614" i="1" dirty="0">
                <a:latin typeface="Arial"/>
                <a:cs typeface="Arial"/>
              </a:rPr>
              <a:t>to</a:t>
            </a:r>
            <a:r>
              <a:rPr sz="614" i="1" spc="-17" dirty="0">
                <a:latin typeface="Arial"/>
                <a:cs typeface="Arial"/>
              </a:rPr>
              <a:t> the </a:t>
            </a:r>
            <a:r>
              <a:rPr sz="614" i="1" dirty="0">
                <a:latin typeface="Arial"/>
                <a:cs typeface="Arial"/>
              </a:rPr>
              <a:t>guidelines</a:t>
            </a:r>
            <a:r>
              <a:rPr sz="614" i="1" spc="-10" dirty="0">
                <a:latin typeface="Arial"/>
                <a:cs typeface="Arial"/>
              </a:rPr>
              <a:t> </a:t>
            </a:r>
            <a:r>
              <a:rPr sz="614" i="1" dirty="0">
                <a:latin typeface="Arial"/>
                <a:cs typeface="Arial"/>
              </a:rPr>
              <a:t>specified</a:t>
            </a:r>
            <a:r>
              <a:rPr sz="614" i="1" spc="-14" dirty="0">
                <a:latin typeface="Arial"/>
                <a:cs typeface="Arial"/>
              </a:rPr>
              <a:t> </a:t>
            </a:r>
            <a:r>
              <a:rPr sz="614" i="1" dirty="0">
                <a:latin typeface="Arial"/>
                <a:cs typeface="Arial"/>
              </a:rPr>
              <a:t>for</a:t>
            </a:r>
            <a:r>
              <a:rPr sz="614" i="1" spc="-20" dirty="0">
                <a:latin typeface="Arial"/>
                <a:cs typeface="Arial"/>
              </a:rPr>
              <a:t> </a:t>
            </a:r>
            <a:r>
              <a:rPr sz="614" i="1" dirty="0">
                <a:latin typeface="Arial"/>
                <a:cs typeface="Arial"/>
              </a:rPr>
              <a:t>this</a:t>
            </a:r>
            <a:r>
              <a:rPr sz="614" i="1" spc="-10" dirty="0">
                <a:latin typeface="Arial"/>
                <a:cs typeface="Arial"/>
              </a:rPr>
              <a:t> </a:t>
            </a:r>
            <a:r>
              <a:rPr sz="614" i="1" dirty="0">
                <a:latin typeface="Arial"/>
                <a:cs typeface="Arial"/>
              </a:rPr>
              <a:t>assessment.</a:t>
            </a:r>
            <a:r>
              <a:rPr sz="614" i="1" spc="-17" dirty="0">
                <a:latin typeface="Arial"/>
                <a:cs typeface="Arial"/>
              </a:rPr>
              <a:t> </a:t>
            </a:r>
            <a:r>
              <a:rPr sz="614" i="1" dirty="0">
                <a:latin typeface="Arial"/>
                <a:cs typeface="Arial"/>
              </a:rPr>
              <a:t>I</a:t>
            </a:r>
            <a:r>
              <a:rPr sz="614" i="1" spc="-10" dirty="0">
                <a:latin typeface="Arial"/>
                <a:cs typeface="Arial"/>
              </a:rPr>
              <a:t> </a:t>
            </a:r>
            <a:r>
              <a:rPr sz="614" i="1" dirty="0">
                <a:latin typeface="Arial"/>
                <a:cs typeface="Arial"/>
              </a:rPr>
              <a:t>understand</a:t>
            </a:r>
            <a:r>
              <a:rPr sz="614" i="1" spc="-24" dirty="0">
                <a:latin typeface="Arial"/>
                <a:cs typeface="Arial"/>
              </a:rPr>
              <a:t> </a:t>
            </a:r>
            <a:r>
              <a:rPr sz="614" i="1" dirty="0">
                <a:latin typeface="Arial"/>
                <a:cs typeface="Arial"/>
              </a:rPr>
              <a:t>that</a:t>
            </a:r>
            <a:r>
              <a:rPr sz="614" i="1" spc="-20" dirty="0">
                <a:latin typeface="Arial"/>
                <a:cs typeface="Arial"/>
              </a:rPr>
              <a:t> </a:t>
            </a:r>
            <a:r>
              <a:rPr sz="614" i="1" dirty="0">
                <a:latin typeface="Arial"/>
                <a:cs typeface="Arial"/>
              </a:rPr>
              <a:t>any</a:t>
            </a:r>
            <a:r>
              <a:rPr sz="614" i="1" spc="-10" dirty="0">
                <a:latin typeface="Arial"/>
                <a:cs typeface="Arial"/>
              </a:rPr>
              <a:t> </a:t>
            </a:r>
            <a:r>
              <a:rPr sz="614" i="1" dirty="0">
                <a:latin typeface="Arial"/>
                <a:cs typeface="Arial"/>
              </a:rPr>
              <a:t>violation</a:t>
            </a:r>
            <a:r>
              <a:rPr sz="614" i="1" spc="-14" dirty="0">
                <a:latin typeface="Arial"/>
                <a:cs typeface="Arial"/>
              </a:rPr>
              <a:t> </a:t>
            </a:r>
            <a:r>
              <a:rPr sz="614" i="1" dirty="0">
                <a:latin typeface="Arial"/>
                <a:cs typeface="Arial"/>
              </a:rPr>
              <a:t>of</a:t>
            </a:r>
            <a:r>
              <a:rPr sz="614" i="1" spc="-3" dirty="0">
                <a:latin typeface="Arial"/>
                <a:cs typeface="Arial"/>
              </a:rPr>
              <a:t> </a:t>
            </a:r>
            <a:r>
              <a:rPr sz="614" i="1" dirty="0">
                <a:latin typeface="Arial"/>
                <a:cs typeface="Arial"/>
              </a:rPr>
              <a:t>academic</a:t>
            </a:r>
            <a:r>
              <a:rPr sz="614" i="1" spc="-7" dirty="0">
                <a:latin typeface="Arial"/>
                <a:cs typeface="Arial"/>
              </a:rPr>
              <a:t> </a:t>
            </a:r>
            <a:r>
              <a:rPr sz="614" i="1" dirty="0">
                <a:latin typeface="Arial"/>
                <a:cs typeface="Arial"/>
              </a:rPr>
              <a:t>integrity</a:t>
            </a:r>
            <a:r>
              <a:rPr sz="614" i="1" spc="-10" dirty="0">
                <a:latin typeface="Arial"/>
                <a:cs typeface="Arial"/>
              </a:rPr>
              <a:t> </a:t>
            </a:r>
            <a:r>
              <a:rPr sz="614" i="1" dirty="0">
                <a:latin typeface="Arial"/>
                <a:cs typeface="Arial"/>
              </a:rPr>
              <a:t>rules</a:t>
            </a:r>
            <a:r>
              <a:rPr sz="614" i="1" spc="-27" dirty="0">
                <a:latin typeface="Arial"/>
                <a:cs typeface="Arial"/>
              </a:rPr>
              <a:t> </a:t>
            </a:r>
            <a:r>
              <a:rPr sz="614" i="1" dirty="0">
                <a:latin typeface="Arial"/>
                <a:cs typeface="Arial"/>
              </a:rPr>
              <a:t>will</a:t>
            </a:r>
            <a:r>
              <a:rPr sz="614" i="1" spc="-31" dirty="0">
                <a:latin typeface="Arial"/>
                <a:cs typeface="Arial"/>
              </a:rPr>
              <a:t> </a:t>
            </a:r>
            <a:r>
              <a:rPr sz="614" i="1" dirty="0">
                <a:latin typeface="Arial"/>
                <a:cs typeface="Arial"/>
              </a:rPr>
              <a:t>result</a:t>
            </a:r>
            <a:r>
              <a:rPr sz="614" i="1" spc="-3" dirty="0">
                <a:latin typeface="Arial"/>
                <a:cs typeface="Arial"/>
              </a:rPr>
              <a:t> </a:t>
            </a:r>
            <a:r>
              <a:rPr sz="614" i="1" spc="-17" dirty="0">
                <a:latin typeface="Arial"/>
                <a:cs typeface="Arial"/>
              </a:rPr>
              <a:t>in </a:t>
            </a:r>
            <a:r>
              <a:rPr sz="614" i="1" dirty="0">
                <a:latin typeface="Arial"/>
                <a:cs typeface="Arial"/>
              </a:rPr>
              <a:t>disciplinary</a:t>
            </a:r>
            <a:r>
              <a:rPr sz="614" i="1" spc="-24" dirty="0">
                <a:latin typeface="Arial"/>
                <a:cs typeface="Arial"/>
              </a:rPr>
              <a:t> </a:t>
            </a:r>
            <a:r>
              <a:rPr sz="614" i="1" spc="-7" dirty="0">
                <a:latin typeface="Arial"/>
                <a:cs typeface="Arial"/>
              </a:rPr>
              <a:t>action.</a:t>
            </a:r>
            <a:endParaRPr sz="614" dirty="0">
              <a:latin typeface="Arial"/>
              <a:cs typeface="Arial"/>
            </a:endParaRPr>
          </a:p>
          <a:p>
            <a:pPr marL="87022">
              <a:spcBef>
                <a:spcPts val="177"/>
              </a:spcBef>
              <a:tabLst>
                <a:tab pos="1696271" algn="l"/>
              </a:tabLst>
            </a:pPr>
            <a:r>
              <a:rPr sz="614" dirty="0">
                <a:latin typeface="Arial MT"/>
                <a:cs typeface="Arial MT"/>
              </a:rPr>
              <a:t>Signature</a:t>
            </a:r>
            <a:r>
              <a:rPr sz="614" spc="-14" dirty="0">
                <a:latin typeface="Arial MT"/>
                <a:cs typeface="Arial MT"/>
              </a:rPr>
              <a:t> </a:t>
            </a:r>
            <a:r>
              <a:rPr sz="614" dirty="0">
                <a:latin typeface="Arial MT"/>
                <a:cs typeface="Arial MT"/>
              </a:rPr>
              <a:t>of</a:t>
            </a:r>
            <a:r>
              <a:rPr sz="614" spc="-7" dirty="0">
                <a:latin typeface="Arial MT"/>
                <a:cs typeface="Arial MT"/>
              </a:rPr>
              <a:t> </a:t>
            </a:r>
            <a:r>
              <a:rPr sz="614" dirty="0">
                <a:latin typeface="Arial MT"/>
                <a:cs typeface="Arial MT"/>
              </a:rPr>
              <a:t>the</a:t>
            </a:r>
            <a:r>
              <a:rPr sz="614" spc="-14" dirty="0">
                <a:latin typeface="Arial MT"/>
                <a:cs typeface="Arial MT"/>
              </a:rPr>
              <a:t> </a:t>
            </a:r>
            <a:r>
              <a:rPr sz="614" dirty="0">
                <a:latin typeface="Arial MT"/>
                <a:cs typeface="Arial MT"/>
              </a:rPr>
              <a:t>Student: </a:t>
            </a:r>
            <a:r>
              <a:rPr sz="614" u="sng" spc="164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 </a:t>
            </a:r>
            <a:r>
              <a:rPr sz="614" u="sng" spc="-7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Jeevitha</a:t>
            </a:r>
            <a:r>
              <a:rPr sz="614" u="sng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	</a:t>
            </a:r>
            <a:endParaRPr sz="614" dirty="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916194" y="2833428"/>
            <a:ext cx="4365914" cy="688499"/>
          </a:xfrm>
          <a:prstGeom prst="rect">
            <a:avLst/>
          </a:prstGeom>
          <a:solidFill>
            <a:srgbClr val="FFF3CD"/>
          </a:solidFill>
          <a:ln w="6095">
            <a:solidFill>
              <a:srgbClr val="1F4E79"/>
            </a:solidFill>
          </a:ln>
        </p:spPr>
        <p:txBody>
          <a:bodyPr vert="horz" wrap="square" lIns="0" tIns="29441" rIns="0" bIns="0" rtlCol="0">
            <a:spAutoFit/>
          </a:bodyPr>
          <a:lstStyle/>
          <a:p>
            <a:pPr marL="87022">
              <a:lnSpc>
                <a:spcPts val="805"/>
              </a:lnSpc>
              <a:spcBef>
                <a:spcPts val="232"/>
              </a:spcBef>
            </a:pPr>
            <a:r>
              <a:rPr sz="682" b="1" spc="-7" dirty="0">
                <a:solidFill>
                  <a:srgbClr val="C00000"/>
                </a:solidFill>
                <a:latin typeface="Arial"/>
                <a:cs typeface="Arial"/>
              </a:rPr>
              <a:t>Instructions</a:t>
            </a:r>
            <a:endParaRPr sz="682">
              <a:latin typeface="Arial"/>
              <a:cs typeface="Arial"/>
            </a:endParaRPr>
          </a:p>
          <a:p>
            <a:pPr marL="399173" indent="-156292">
              <a:lnSpc>
                <a:spcPts val="706"/>
              </a:lnSpc>
              <a:buChar char="•"/>
              <a:tabLst>
                <a:tab pos="399173" algn="l"/>
              </a:tabLst>
            </a:pPr>
            <a:r>
              <a:rPr sz="614" dirty="0">
                <a:latin typeface="Arial MT"/>
                <a:cs typeface="Arial MT"/>
              </a:rPr>
              <a:t>Suggested</a:t>
            </a:r>
            <a:r>
              <a:rPr sz="614" spc="-17" dirty="0">
                <a:latin typeface="Arial MT"/>
                <a:cs typeface="Arial MT"/>
              </a:rPr>
              <a:t> </a:t>
            </a:r>
            <a:r>
              <a:rPr sz="614" dirty="0">
                <a:latin typeface="Arial MT"/>
                <a:cs typeface="Arial MT"/>
              </a:rPr>
              <a:t>Team</a:t>
            </a:r>
            <a:r>
              <a:rPr sz="614" spc="-7" dirty="0">
                <a:latin typeface="Arial MT"/>
                <a:cs typeface="Arial MT"/>
              </a:rPr>
              <a:t> </a:t>
            </a:r>
            <a:r>
              <a:rPr sz="614" dirty="0">
                <a:latin typeface="Arial MT"/>
                <a:cs typeface="Arial MT"/>
              </a:rPr>
              <a:t>Member</a:t>
            </a:r>
            <a:r>
              <a:rPr sz="614" spc="-7" dirty="0">
                <a:latin typeface="Arial MT"/>
                <a:cs typeface="Arial MT"/>
              </a:rPr>
              <a:t> </a:t>
            </a:r>
            <a:r>
              <a:rPr sz="614" dirty="0">
                <a:latin typeface="Arial MT"/>
                <a:cs typeface="Arial MT"/>
              </a:rPr>
              <a:t>Roles</a:t>
            </a:r>
            <a:r>
              <a:rPr sz="614" spc="-14" dirty="0">
                <a:latin typeface="Arial MT"/>
                <a:cs typeface="Arial MT"/>
              </a:rPr>
              <a:t> </a:t>
            </a:r>
            <a:r>
              <a:rPr sz="614" dirty="0">
                <a:latin typeface="Arial MT"/>
                <a:cs typeface="Arial MT"/>
              </a:rPr>
              <a:t>(3</a:t>
            </a:r>
            <a:r>
              <a:rPr sz="614" spc="-24" dirty="0">
                <a:latin typeface="Arial MT"/>
                <a:cs typeface="Arial MT"/>
              </a:rPr>
              <a:t> </a:t>
            </a:r>
            <a:r>
              <a:rPr sz="614" spc="-7" dirty="0">
                <a:latin typeface="Arial MT"/>
                <a:cs typeface="Arial MT"/>
              </a:rPr>
              <a:t>Members)</a:t>
            </a:r>
            <a:endParaRPr sz="614">
              <a:latin typeface="Arial MT"/>
              <a:cs typeface="Arial MT"/>
            </a:endParaRPr>
          </a:p>
          <a:p>
            <a:pPr marL="399173" indent="-156292">
              <a:lnSpc>
                <a:spcPts val="702"/>
              </a:lnSpc>
              <a:buChar char="•"/>
              <a:tabLst>
                <a:tab pos="399173" algn="l"/>
              </a:tabLst>
            </a:pPr>
            <a:r>
              <a:rPr sz="614" dirty="0">
                <a:latin typeface="Arial MT"/>
                <a:cs typeface="Arial MT"/>
              </a:rPr>
              <a:t>Member</a:t>
            </a:r>
            <a:r>
              <a:rPr sz="614" spc="-7" dirty="0">
                <a:latin typeface="Arial MT"/>
                <a:cs typeface="Arial MT"/>
              </a:rPr>
              <a:t> </a:t>
            </a:r>
            <a:r>
              <a:rPr sz="614" dirty="0">
                <a:latin typeface="Arial MT"/>
                <a:cs typeface="Arial MT"/>
              </a:rPr>
              <a:t>1:</a:t>
            </a:r>
            <a:r>
              <a:rPr sz="614" spc="-3" dirty="0">
                <a:latin typeface="Arial MT"/>
                <a:cs typeface="Arial MT"/>
              </a:rPr>
              <a:t> </a:t>
            </a:r>
            <a:r>
              <a:rPr sz="614" dirty="0">
                <a:latin typeface="Arial MT"/>
                <a:cs typeface="Arial MT"/>
              </a:rPr>
              <a:t>Theory,</a:t>
            </a:r>
            <a:r>
              <a:rPr sz="614" spc="-20" dirty="0">
                <a:latin typeface="Arial MT"/>
                <a:cs typeface="Arial MT"/>
              </a:rPr>
              <a:t> </a:t>
            </a:r>
            <a:r>
              <a:rPr sz="614" dirty="0">
                <a:latin typeface="Arial MT"/>
                <a:cs typeface="Arial MT"/>
              </a:rPr>
              <a:t>Concepts,</a:t>
            </a:r>
            <a:r>
              <a:rPr sz="614" spc="-17" dirty="0">
                <a:latin typeface="Arial MT"/>
                <a:cs typeface="Arial MT"/>
              </a:rPr>
              <a:t> </a:t>
            </a:r>
            <a:r>
              <a:rPr sz="614" dirty="0">
                <a:latin typeface="Arial MT"/>
                <a:cs typeface="Arial MT"/>
              </a:rPr>
              <a:t>and</a:t>
            </a:r>
            <a:r>
              <a:rPr sz="614" spc="-24" dirty="0">
                <a:latin typeface="Arial MT"/>
                <a:cs typeface="Arial MT"/>
              </a:rPr>
              <a:t> </a:t>
            </a:r>
            <a:r>
              <a:rPr sz="614" dirty="0">
                <a:latin typeface="Arial MT"/>
                <a:cs typeface="Arial MT"/>
              </a:rPr>
              <a:t>Literature</a:t>
            </a:r>
            <a:r>
              <a:rPr sz="614" spc="-27" dirty="0">
                <a:latin typeface="Arial MT"/>
                <a:cs typeface="Arial MT"/>
              </a:rPr>
              <a:t> </a:t>
            </a:r>
            <a:r>
              <a:rPr sz="614" spc="-7" dirty="0">
                <a:latin typeface="Arial MT"/>
                <a:cs typeface="Arial MT"/>
              </a:rPr>
              <a:t>Review</a:t>
            </a:r>
            <a:endParaRPr sz="614">
              <a:latin typeface="Arial MT"/>
              <a:cs typeface="Arial MT"/>
            </a:endParaRPr>
          </a:p>
          <a:p>
            <a:pPr marL="399173" indent="-156292">
              <a:lnSpc>
                <a:spcPts val="719"/>
              </a:lnSpc>
              <a:buChar char="•"/>
              <a:tabLst>
                <a:tab pos="399173" algn="l"/>
              </a:tabLst>
            </a:pPr>
            <a:r>
              <a:rPr sz="614" dirty="0">
                <a:latin typeface="Arial MT"/>
                <a:cs typeface="Arial MT"/>
              </a:rPr>
              <a:t>Member</a:t>
            </a:r>
            <a:r>
              <a:rPr sz="614" spc="-3" dirty="0">
                <a:latin typeface="Arial MT"/>
                <a:cs typeface="Arial MT"/>
              </a:rPr>
              <a:t> </a:t>
            </a:r>
            <a:r>
              <a:rPr sz="614" dirty="0">
                <a:latin typeface="Arial MT"/>
                <a:cs typeface="Arial MT"/>
              </a:rPr>
              <a:t>2: Algorithm</a:t>
            </a:r>
            <a:r>
              <a:rPr sz="614" spc="-17" dirty="0">
                <a:latin typeface="Arial MT"/>
                <a:cs typeface="Arial MT"/>
              </a:rPr>
              <a:t> </a:t>
            </a:r>
            <a:r>
              <a:rPr sz="614" dirty="0">
                <a:latin typeface="Arial MT"/>
                <a:cs typeface="Arial MT"/>
              </a:rPr>
              <a:t>Design,</a:t>
            </a:r>
            <a:r>
              <a:rPr sz="614" spc="-17" dirty="0">
                <a:latin typeface="Arial MT"/>
                <a:cs typeface="Arial MT"/>
              </a:rPr>
              <a:t> </a:t>
            </a:r>
            <a:r>
              <a:rPr sz="614" dirty="0">
                <a:latin typeface="Arial MT"/>
                <a:cs typeface="Arial MT"/>
              </a:rPr>
              <a:t>Models,</a:t>
            </a:r>
            <a:r>
              <a:rPr sz="614" spc="-14" dirty="0">
                <a:latin typeface="Arial MT"/>
                <a:cs typeface="Arial MT"/>
              </a:rPr>
              <a:t> </a:t>
            </a:r>
            <a:r>
              <a:rPr sz="614" dirty="0">
                <a:latin typeface="Arial MT"/>
                <a:cs typeface="Arial MT"/>
              </a:rPr>
              <a:t>and</a:t>
            </a:r>
            <a:r>
              <a:rPr sz="614" spc="-10" dirty="0">
                <a:latin typeface="Arial MT"/>
                <a:cs typeface="Arial MT"/>
              </a:rPr>
              <a:t> </a:t>
            </a:r>
            <a:r>
              <a:rPr sz="614" spc="-7" dirty="0">
                <a:latin typeface="Arial MT"/>
                <a:cs typeface="Arial MT"/>
              </a:rPr>
              <a:t>Technical</a:t>
            </a:r>
            <a:r>
              <a:rPr sz="614" spc="-14" dirty="0">
                <a:latin typeface="Arial MT"/>
                <a:cs typeface="Arial MT"/>
              </a:rPr>
              <a:t> </a:t>
            </a:r>
            <a:r>
              <a:rPr sz="614" spc="-7" dirty="0">
                <a:latin typeface="Arial MT"/>
                <a:cs typeface="Arial MT"/>
              </a:rPr>
              <a:t>Analysis</a:t>
            </a:r>
            <a:endParaRPr sz="614">
              <a:latin typeface="Arial MT"/>
              <a:cs typeface="Arial MT"/>
            </a:endParaRPr>
          </a:p>
          <a:p>
            <a:pPr marL="399173" indent="-156292">
              <a:lnSpc>
                <a:spcPts val="726"/>
              </a:lnSpc>
              <a:spcBef>
                <a:spcPts val="37"/>
              </a:spcBef>
              <a:buSzPct val="111111"/>
              <a:buChar char="•"/>
              <a:tabLst>
                <a:tab pos="399173" algn="l"/>
              </a:tabLst>
            </a:pPr>
            <a:r>
              <a:rPr sz="614" dirty="0">
                <a:latin typeface="Arial MT"/>
                <a:cs typeface="Arial MT"/>
              </a:rPr>
              <a:t>Member</a:t>
            </a:r>
            <a:r>
              <a:rPr sz="614" spc="3" dirty="0">
                <a:latin typeface="Arial MT"/>
                <a:cs typeface="Arial MT"/>
              </a:rPr>
              <a:t> </a:t>
            </a:r>
            <a:r>
              <a:rPr sz="614" dirty="0">
                <a:latin typeface="Arial MT"/>
                <a:cs typeface="Arial MT"/>
              </a:rPr>
              <a:t>3:</a:t>
            </a:r>
            <a:r>
              <a:rPr sz="614" spc="7" dirty="0">
                <a:latin typeface="Arial MT"/>
                <a:cs typeface="Arial MT"/>
              </a:rPr>
              <a:t> </a:t>
            </a:r>
            <a:r>
              <a:rPr sz="614" spc="-7" dirty="0">
                <a:latin typeface="Arial MT"/>
                <a:cs typeface="Arial MT"/>
              </a:rPr>
              <a:t>Demonstration, </a:t>
            </a:r>
            <a:r>
              <a:rPr sz="614" dirty="0">
                <a:latin typeface="Arial MT"/>
                <a:cs typeface="Arial MT"/>
              </a:rPr>
              <a:t>Case</a:t>
            </a:r>
            <a:r>
              <a:rPr sz="614" spc="-17" dirty="0">
                <a:latin typeface="Arial MT"/>
                <a:cs typeface="Arial MT"/>
              </a:rPr>
              <a:t> </a:t>
            </a:r>
            <a:r>
              <a:rPr sz="614" dirty="0">
                <a:latin typeface="Arial MT"/>
                <a:cs typeface="Arial MT"/>
              </a:rPr>
              <a:t>Study,</a:t>
            </a:r>
            <a:r>
              <a:rPr sz="614" spc="-10" dirty="0">
                <a:latin typeface="Arial MT"/>
                <a:cs typeface="Arial MT"/>
              </a:rPr>
              <a:t> </a:t>
            </a:r>
            <a:r>
              <a:rPr sz="614" dirty="0">
                <a:latin typeface="Arial MT"/>
                <a:cs typeface="Arial MT"/>
              </a:rPr>
              <a:t>Applications,</a:t>
            </a:r>
            <a:r>
              <a:rPr sz="614" spc="-7" dirty="0">
                <a:latin typeface="Arial MT"/>
                <a:cs typeface="Arial MT"/>
              </a:rPr>
              <a:t> </a:t>
            </a:r>
            <a:r>
              <a:rPr sz="614" dirty="0">
                <a:latin typeface="Arial MT"/>
                <a:cs typeface="Arial MT"/>
              </a:rPr>
              <a:t>and</a:t>
            </a:r>
            <a:r>
              <a:rPr sz="614" spc="-3" dirty="0">
                <a:latin typeface="Arial MT"/>
                <a:cs typeface="Arial MT"/>
              </a:rPr>
              <a:t> </a:t>
            </a:r>
            <a:r>
              <a:rPr sz="614" spc="-7" dirty="0">
                <a:latin typeface="Arial MT"/>
                <a:cs typeface="Arial MT"/>
              </a:rPr>
              <a:t>Conclusion</a:t>
            </a:r>
            <a:endParaRPr sz="614">
              <a:latin typeface="Arial MT"/>
              <a:cs typeface="Arial MT"/>
            </a:endParaRPr>
          </a:p>
          <a:p>
            <a:pPr marL="399173" indent="-156292">
              <a:lnSpc>
                <a:spcPts val="808"/>
              </a:lnSpc>
              <a:buChar char="•"/>
              <a:tabLst>
                <a:tab pos="399173" algn="l"/>
              </a:tabLst>
            </a:pPr>
            <a:r>
              <a:rPr sz="682" dirty="0">
                <a:latin typeface="Arial MT"/>
                <a:cs typeface="Arial MT"/>
              </a:rPr>
              <a:t>GPS</a:t>
            </a:r>
            <a:r>
              <a:rPr sz="682" spc="10" dirty="0">
                <a:latin typeface="Arial MT"/>
                <a:cs typeface="Arial MT"/>
              </a:rPr>
              <a:t> </a:t>
            </a:r>
            <a:r>
              <a:rPr sz="682" dirty="0">
                <a:latin typeface="Arial MT"/>
                <a:cs typeface="Arial MT"/>
              </a:rPr>
              <a:t>photo</a:t>
            </a:r>
            <a:r>
              <a:rPr sz="682" spc="-31" dirty="0">
                <a:latin typeface="Arial MT"/>
                <a:cs typeface="Arial MT"/>
              </a:rPr>
              <a:t> </a:t>
            </a:r>
            <a:r>
              <a:rPr sz="682" dirty="0">
                <a:latin typeface="Arial MT"/>
                <a:cs typeface="Arial MT"/>
              </a:rPr>
              <a:t>must</a:t>
            </a:r>
            <a:r>
              <a:rPr sz="682" spc="14" dirty="0">
                <a:latin typeface="Arial MT"/>
                <a:cs typeface="Arial MT"/>
              </a:rPr>
              <a:t> </a:t>
            </a:r>
            <a:r>
              <a:rPr sz="682" spc="-7" dirty="0">
                <a:latin typeface="Arial MT"/>
                <a:cs typeface="Arial MT"/>
              </a:rPr>
              <a:t>submit.</a:t>
            </a:r>
            <a:endParaRPr sz="682">
              <a:latin typeface="Arial MT"/>
              <a:cs typeface="Arial MT"/>
            </a:endParaRPr>
          </a:p>
          <a:p>
            <a:pPr marL="399173" indent="-156292">
              <a:spcBef>
                <a:spcPts val="17"/>
              </a:spcBef>
              <a:buSzPct val="111111"/>
              <a:buChar char="•"/>
              <a:tabLst>
                <a:tab pos="399173" algn="l"/>
              </a:tabLst>
            </a:pPr>
            <a:r>
              <a:rPr sz="614" dirty="0">
                <a:latin typeface="Arial MT"/>
                <a:cs typeface="Arial MT"/>
              </a:rPr>
              <a:t>Duration:</a:t>
            </a:r>
            <a:r>
              <a:rPr sz="614" spc="-7" dirty="0">
                <a:latin typeface="Arial MT"/>
                <a:cs typeface="Arial MT"/>
              </a:rPr>
              <a:t> </a:t>
            </a:r>
            <a:r>
              <a:rPr sz="614" dirty="0">
                <a:latin typeface="Arial MT"/>
                <a:cs typeface="Arial MT"/>
              </a:rPr>
              <a:t>30</a:t>
            </a:r>
            <a:r>
              <a:rPr sz="614" spc="-14" dirty="0">
                <a:latin typeface="Arial MT"/>
                <a:cs typeface="Arial MT"/>
              </a:rPr>
              <a:t> </a:t>
            </a:r>
            <a:r>
              <a:rPr sz="614" spc="-7" dirty="0">
                <a:latin typeface="Arial MT"/>
                <a:cs typeface="Arial MT"/>
              </a:rPr>
              <a:t>minutes.</a:t>
            </a:r>
            <a:endParaRPr sz="614">
              <a:latin typeface="Arial MT"/>
              <a:cs typeface="Arial MT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3914116" y="3691890"/>
          <a:ext cx="4357686" cy="398918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6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223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801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7231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6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Section</a:t>
                      </a:r>
                      <a:r>
                        <a:rPr sz="600" b="1" spc="-4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6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/</a:t>
                      </a:r>
                      <a:r>
                        <a:rPr sz="6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60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Topic</a:t>
                      </a:r>
                      <a:endParaRPr sz="600">
                        <a:latin typeface="Arial"/>
                        <a:cs typeface="Arial"/>
                      </a:endParaRPr>
                    </a:p>
                  </a:txBody>
                  <a:tcPr marL="0" marR="0" marT="32039" marB="0">
                    <a:lnL w="6350">
                      <a:solidFill>
                        <a:srgbClr val="1F4E79"/>
                      </a:solidFill>
                      <a:prstDash val="solid"/>
                    </a:lnL>
                    <a:lnR w="6350">
                      <a:solidFill>
                        <a:srgbClr val="1F4E79"/>
                      </a:solidFill>
                      <a:prstDash val="solid"/>
                    </a:lnR>
                    <a:lnT w="6350">
                      <a:solidFill>
                        <a:srgbClr val="1F4E79"/>
                      </a:solidFill>
                      <a:prstDash val="solid"/>
                    </a:lnT>
                    <a:lnB w="6350">
                      <a:solidFill>
                        <a:srgbClr val="1F4E79"/>
                      </a:solidFill>
                      <a:prstDash val="soli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6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Focus</a:t>
                      </a:r>
                      <a:endParaRPr sz="600">
                        <a:latin typeface="Arial"/>
                        <a:cs typeface="Arial"/>
                      </a:endParaRPr>
                    </a:p>
                  </a:txBody>
                  <a:tcPr marL="0" marR="0" marT="32039" marB="0">
                    <a:lnL w="6350">
                      <a:solidFill>
                        <a:srgbClr val="1F4E79"/>
                      </a:solidFill>
                      <a:prstDash val="solid"/>
                    </a:lnL>
                    <a:lnR w="6350">
                      <a:solidFill>
                        <a:srgbClr val="1F4E79"/>
                      </a:solidFill>
                      <a:prstDash val="solid"/>
                    </a:lnR>
                    <a:lnT w="6350">
                      <a:solidFill>
                        <a:srgbClr val="1F4E79"/>
                      </a:solidFill>
                      <a:prstDash val="solid"/>
                    </a:lnT>
                    <a:lnB w="6350">
                      <a:solidFill>
                        <a:srgbClr val="1F4E79"/>
                      </a:solidFill>
                      <a:prstDash val="soli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6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Q </a:t>
                      </a:r>
                      <a:r>
                        <a:rPr sz="6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Nos</a:t>
                      </a:r>
                      <a:endParaRPr sz="600">
                        <a:latin typeface="Arial"/>
                        <a:cs typeface="Arial"/>
                      </a:endParaRPr>
                    </a:p>
                  </a:txBody>
                  <a:tcPr marL="0" marR="0" marT="32039" marB="0">
                    <a:lnL w="6350">
                      <a:solidFill>
                        <a:srgbClr val="1F4E79"/>
                      </a:solidFill>
                      <a:prstDash val="solid"/>
                    </a:lnL>
                    <a:lnR w="6350">
                      <a:solidFill>
                        <a:srgbClr val="1F4E79"/>
                      </a:solidFill>
                      <a:prstDash val="solid"/>
                    </a:lnR>
                    <a:lnT w="6350">
                      <a:solidFill>
                        <a:srgbClr val="1F4E79"/>
                      </a:solidFill>
                      <a:prstDash val="solid"/>
                    </a:lnT>
                    <a:lnB w="6350">
                      <a:solidFill>
                        <a:srgbClr val="1F4E79"/>
                      </a:solidFill>
                      <a:prstDash val="solid"/>
                    </a:lnB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1937">
                <a:tc>
                  <a:txBody>
                    <a:bodyPr/>
                    <a:lstStyle/>
                    <a:p>
                      <a:pPr marL="76200" marR="99695">
                        <a:lnSpc>
                          <a:spcPts val="1150"/>
                        </a:lnSpc>
                        <a:spcBef>
                          <a:spcPts val="375"/>
                        </a:spcBef>
                      </a:pPr>
                      <a:r>
                        <a:rPr sz="700" dirty="0">
                          <a:latin typeface="Arial MT"/>
                          <a:cs typeface="Arial MT"/>
                        </a:rPr>
                        <a:t>Evolution</a:t>
                      </a:r>
                      <a:r>
                        <a:rPr sz="7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of</a:t>
                      </a:r>
                      <a:r>
                        <a:rPr sz="7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Natural</a:t>
                      </a:r>
                      <a:r>
                        <a:rPr sz="7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Language</a:t>
                      </a:r>
                      <a:r>
                        <a:rPr sz="7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spc="-10" dirty="0">
                          <a:latin typeface="Arial MT"/>
                          <a:cs typeface="Arial MT"/>
                        </a:rPr>
                        <a:t>Processing: 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From</a:t>
                      </a:r>
                      <a:r>
                        <a:rPr sz="700" spc="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spc="-10" dirty="0">
                          <a:latin typeface="Arial MT"/>
                          <a:cs typeface="Arial MT"/>
                        </a:rPr>
                        <a:t>Rule-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Based</a:t>
                      </a:r>
                      <a:r>
                        <a:rPr sz="7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Systems</a:t>
                      </a:r>
                      <a:r>
                        <a:rPr sz="7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to</a:t>
                      </a:r>
                      <a:r>
                        <a:rPr sz="7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Modern</a:t>
                      </a:r>
                      <a:r>
                        <a:rPr sz="7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spc="-25" dirty="0">
                          <a:latin typeface="Arial MT"/>
                          <a:cs typeface="Arial MT"/>
                        </a:rPr>
                        <a:t>NLP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T="32472" marB="0">
                    <a:lnL w="6350">
                      <a:solidFill>
                        <a:srgbClr val="9DC3E6"/>
                      </a:solidFill>
                      <a:prstDash val="solid"/>
                    </a:lnL>
                    <a:lnR w="6350">
                      <a:solidFill>
                        <a:srgbClr val="9DC3E6"/>
                      </a:solidFill>
                      <a:prstDash val="solid"/>
                    </a:lnR>
                    <a:lnT w="6350">
                      <a:solidFill>
                        <a:srgbClr val="1F4E79"/>
                      </a:solidFill>
                      <a:prstDash val="solid"/>
                    </a:lnT>
                    <a:lnB w="6350">
                      <a:solidFill>
                        <a:srgbClr val="9DC3E6"/>
                      </a:solidFill>
                      <a:prstDash val="solid"/>
                    </a:lnB>
                    <a:solidFill>
                      <a:srgbClr val="D5E3EF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700" dirty="0">
                          <a:latin typeface="Arial MT"/>
                          <a:cs typeface="Arial MT"/>
                        </a:rPr>
                        <a:t>NLP</a:t>
                      </a:r>
                      <a:r>
                        <a:rPr sz="7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Models,</a:t>
                      </a:r>
                      <a:r>
                        <a:rPr sz="7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Language</a:t>
                      </a:r>
                      <a:r>
                        <a:rPr sz="7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Processing</a:t>
                      </a:r>
                      <a:r>
                        <a:rPr sz="7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spc="-10" dirty="0">
                          <a:latin typeface="Arial MT"/>
                          <a:cs typeface="Arial MT"/>
                        </a:rPr>
                        <a:t>Evolution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T="25544" marB="0">
                    <a:lnL w="6350">
                      <a:solidFill>
                        <a:srgbClr val="9DC3E6"/>
                      </a:solidFill>
                      <a:prstDash val="solid"/>
                    </a:lnL>
                    <a:lnR w="6350">
                      <a:solidFill>
                        <a:srgbClr val="9DC3E6"/>
                      </a:solidFill>
                      <a:prstDash val="solid"/>
                    </a:lnR>
                    <a:lnT w="6350">
                      <a:solidFill>
                        <a:srgbClr val="1F4E79"/>
                      </a:solidFill>
                      <a:prstDash val="solid"/>
                    </a:lnT>
                    <a:lnB w="6350">
                      <a:solidFill>
                        <a:srgbClr val="9DC3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700" dirty="0">
                          <a:latin typeface="Arial MT"/>
                          <a:cs typeface="Arial MT"/>
                        </a:rPr>
                        <a:t>TP-</a:t>
                      </a:r>
                      <a:r>
                        <a:rPr sz="700" spc="-25" dirty="0">
                          <a:latin typeface="Arial MT"/>
                          <a:cs typeface="Arial MT"/>
                        </a:rPr>
                        <a:t>01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T="25544" marB="0">
                    <a:lnL w="6350">
                      <a:solidFill>
                        <a:srgbClr val="9DC3E6"/>
                      </a:solidFill>
                      <a:prstDash val="solid"/>
                    </a:lnL>
                    <a:lnR w="6350">
                      <a:solidFill>
                        <a:srgbClr val="9DC3E6"/>
                      </a:solidFill>
                      <a:prstDash val="solid"/>
                    </a:lnR>
                    <a:lnT w="6350">
                      <a:solidFill>
                        <a:srgbClr val="1F4E79"/>
                      </a:solidFill>
                      <a:prstDash val="solid"/>
                    </a:lnT>
                    <a:lnB w="6350">
                      <a:solidFill>
                        <a:srgbClr val="9DC3E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3669">
                <a:tc>
                  <a:txBody>
                    <a:bodyPr/>
                    <a:lstStyle/>
                    <a:p>
                      <a:pPr marL="76200" marR="312420">
                        <a:lnSpc>
                          <a:spcPts val="1150"/>
                        </a:lnSpc>
                        <a:spcBef>
                          <a:spcPts val="400"/>
                        </a:spcBef>
                      </a:pPr>
                      <a:r>
                        <a:rPr sz="700" dirty="0">
                          <a:latin typeface="Arial MT"/>
                          <a:cs typeface="Arial MT"/>
                        </a:rPr>
                        <a:t>Comparative</a:t>
                      </a:r>
                      <a:r>
                        <a:rPr sz="7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Study</a:t>
                      </a:r>
                      <a:r>
                        <a:rPr sz="7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of NLP</a:t>
                      </a:r>
                      <a:r>
                        <a:rPr sz="7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Models</a:t>
                      </a:r>
                      <a:r>
                        <a:rPr sz="7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spc="-25" dirty="0">
                          <a:latin typeface="Arial MT"/>
                          <a:cs typeface="Arial MT"/>
                        </a:rPr>
                        <a:t>and </a:t>
                      </a:r>
                      <a:r>
                        <a:rPr sz="700" spc="-10" dirty="0">
                          <a:latin typeface="Arial MT"/>
                          <a:cs typeface="Arial MT"/>
                        </a:rPr>
                        <a:t>Algorithms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T="34636" marB="0">
                    <a:lnL w="6350">
                      <a:solidFill>
                        <a:srgbClr val="9DC3E6"/>
                      </a:solidFill>
                      <a:prstDash val="solid"/>
                    </a:lnL>
                    <a:lnR w="6350">
                      <a:solidFill>
                        <a:srgbClr val="9DC3E6"/>
                      </a:solidFill>
                      <a:prstDash val="solid"/>
                    </a:lnR>
                    <a:lnT w="6350">
                      <a:solidFill>
                        <a:srgbClr val="9DC3E6"/>
                      </a:solidFill>
                      <a:prstDash val="solid"/>
                    </a:lnT>
                    <a:lnB w="6350">
                      <a:solidFill>
                        <a:srgbClr val="9DC3E6"/>
                      </a:solidFill>
                      <a:prstDash val="solid"/>
                    </a:lnB>
                    <a:solidFill>
                      <a:srgbClr val="EBF3FA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700" dirty="0">
                          <a:latin typeface="Arial MT"/>
                          <a:cs typeface="Arial MT"/>
                        </a:rPr>
                        <a:t>Model</a:t>
                      </a:r>
                      <a:r>
                        <a:rPr sz="7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Analysis,</a:t>
                      </a:r>
                      <a:r>
                        <a:rPr sz="7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Algorithm</a:t>
                      </a:r>
                      <a:r>
                        <a:rPr sz="7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spc="-10" dirty="0">
                          <a:latin typeface="Arial MT"/>
                          <a:cs typeface="Arial MT"/>
                        </a:rPr>
                        <a:t>Comparison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T="27709" marB="0">
                    <a:lnL w="6350">
                      <a:solidFill>
                        <a:srgbClr val="9DC3E6"/>
                      </a:solidFill>
                      <a:prstDash val="solid"/>
                    </a:lnL>
                    <a:lnR w="6350">
                      <a:solidFill>
                        <a:srgbClr val="9DC3E6"/>
                      </a:solidFill>
                      <a:prstDash val="solid"/>
                    </a:lnR>
                    <a:lnT w="6350">
                      <a:solidFill>
                        <a:srgbClr val="9DC3E6"/>
                      </a:solidFill>
                      <a:prstDash val="solid"/>
                    </a:lnT>
                    <a:lnB w="6350">
                      <a:solidFill>
                        <a:srgbClr val="9DC3E6"/>
                      </a:solidFill>
                      <a:prstDash val="solid"/>
                    </a:lnB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700" dirty="0">
                          <a:latin typeface="Arial MT"/>
                          <a:cs typeface="Arial MT"/>
                        </a:rPr>
                        <a:t>TP-</a:t>
                      </a:r>
                      <a:r>
                        <a:rPr sz="700" spc="-25" dirty="0">
                          <a:latin typeface="Arial MT"/>
                          <a:cs typeface="Arial MT"/>
                        </a:rPr>
                        <a:t>02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T="27709" marB="0">
                    <a:lnL w="6350">
                      <a:solidFill>
                        <a:srgbClr val="9DC3E6"/>
                      </a:solidFill>
                      <a:prstDash val="solid"/>
                    </a:lnL>
                    <a:lnR w="6350">
                      <a:solidFill>
                        <a:srgbClr val="9DC3E6"/>
                      </a:solidFill>
                      <a:prstDash val="solid"/>
                    </a:lnR>
                    <a:lnT w="6350">
                      <a:solidFill>
                        <a:srgbClr val="9DC3E6"/>
                      </a:solidFill>
                      <a:prstDash val="solid"/>
                    </a:lnT>
                    <a:lnB w="6350">
                      <a:solidFill>
                        <a:srgbClr val="9DC3E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3669">
                <a:tc>
                  <a:txBody>
                    <a:bodyPr/>
                    <a:lstStyle/>
                    <a:p>
                      <a:pPr marL="76200" marR="198120">
                        <a:lnSpc>
                          <a:spcPts val="1150"/>
                        </a:lnSpc>
                        <a:spcBef>
                          <a:spcPts val="400"/>
                        </a:spcBef>
                      </a:pPr>
                      <a:r>
                        <a:rPr sz="700" dirty="0">
                          <a:latin typeface="Arial MT"/>
                          <a:cs typeface="Arial MT"/>
                        </a:rPr>
                        <a:t>Regular</a:t>
                      </a:r>
                      <a:r>
                        <a:rPr sz="700" spc="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spc="-10" dirty="0">
                          <a:latin typeface="Arial MT"/>
                          <a:cs typeface="Arial MT"/>
                        </a:rPr>
                        <a:t>Expressions</a:t>
                      </a:r>
                      <a:r>
                        <a:rPr sz="700" spc="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for</a:t>
                      </a:r>
                      <a:r>
                        <a:rPr sz="700" spc="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spc="-20" dirty="0">
                          <a:latin typeface="Arial MT"/>
                          <a:cs typeface="Arial MT"/>
                        </a:rPr>
                        <a:t>Real-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World</a:t>
                      </a:r>
                      <a:r>
                        <a:rPr sz="700" spc="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spc="-20" dirty="0">
                          <a:latin typeface="Arial MT"/>
                          <a:cs typeface="Arial MT"/>
                        </a:rPr>
                        <a:t>Text </a:t>
                      </a:r>
                      <a:r>
                        <a:rPr sz="700" spc="-10" dirty="0">
                          <a:latin typeface="Arial MT"/>
                          <a:cs typeface="Arial MT"/>
                        </a:rPr>
                        <a:t>Processing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T="34636" marB="0">
                    <a:lnL w="6350">
                      <a:solidFill>
                        <a:srgbClr val="9DC3E6"/>
                      </a:solidFill>
                      <a:prstDash val="solid"/>
                    </a:lnL>
                    <a:lnR w="6350">
                      <a:solidFill>
                        <a:srgbClr val="9DC3E6"/>
                      </a:solidFill>
                      <a:prstDash val="solid"/>
                    </a:lnR>
                    <a:lnT w="6350">
                      <a:solidFill>
                        <a:srgbClr val="9DC3E6"/>
                      </a:solidFill>
                      <a:prstDash val="solid"/>
                    </a:lnT>
                    <a:lnB w="6350">
                      <a:solidFill>
                        <a:srgbClr val="9DC3E6"/>
                      </a:solidFill>
                      <a:prstDash val="solid"/>
                    </a:lnB>
                    <a:solidFill>
                      <a:srgbClr val="D5E3EF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700" dirty="0">
                          <a:latin typeface="Arial MT"/>
                          <a:cs typeface="Arial MT"/>
                        </a:rPr>
                        <a:t>Pattern</a:t>
                      </a:r>
                      <a:r>
                        <a:rPr sz="7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Matching,</a:t>
                      </a:r>
                      <a:r>
                        <a:rPr sz="7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Information</a:t>
                      </a:r>
                      <a:r>
                        <a:rPr sz="7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spc="-10" dirty="0">
                          <a:latin typeface="Arial MT"/>
                          <a:cs typeface="Arial MT"/>
                        </a:rPr>
                        <a:t>Extraction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T="27709" marB="0">
                    <a:lnL w="6350">
                      <a:solidFill>
                        <a:srgbClr val="9DC3E6"/>
                      </a:solidFill>
                      <a:prstDash val="solid"/>
                    </a:lnL>
                    <a:lnR w="6350">
                      <a:solidFill>
                        <a:srgbClr val="9DC3E6"/>
                      </a:solidFill>
                      <a:prstDash val="solid"/>
                    </a:lnR>
                    <a:lnT w="6350">
                      <a:solidFill>
                        <a:srgbClr val="9DC3E6"/>
                      </a:solidFill>
                      <a:prstDash val="solid"/>
                    </a:lnT>
                    <a:lnB w="6350">
                      <a:solidFill>
                        <a:srgbClr val="9DC3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700" dirty="0">
                          <a:latin typeface="Arial MT"/>
                          <a:cs typeface="Arial MT"/>
                        </a:rPr>
                        <a:t>TP-</a:t>
                      </a:r>
                      <a:r>
                        <a:rPr sz="700" spc="-25" dirty="0">
                          <a:latin typeface="Arial MT"/>
                          <a:cs typeface="Arial MT"/>
                        </a:rPr>
                        <a:t>03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T="27709" marB="0">
                    <a:lnL w="6350">
                      <a:solidFill>
                        <a:srgbClr val="9DC3E6"/>
                      </a:solidFill>
                      <a:prstDash val="solid"/>
                    </a:lnL>
                    <a:lnR w="6350">
                      <a:solidFill>
                        <a:srgbClr val="9DC3E6"/>
                      </a:solidFill>
                      <a:prstDash val="solid"/>
                    </a:lnR>
                    <a:lnT w="6350">
                      <a:solidFill>
                        <a:srgbClr val="9DC3E6"/>
                      </a:solidFill>
                      <a:prstDash val="solid"/>
                    </a:lnT>
                    <a:lnB w="6350">
                      <a:solidFill>
                        <a:srgbClr val="9DC3E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4102">
                <a:tc>
                  <a:txBody>
                    <a:bodyPr/>
                    <a:lstStyle/>
                    <a:p>
                      <a:pPr marL="76200" marR="313055">
                        <a:lnSpc>
                          <a:spcPts val="1150"/>
                        </a:lnSpc>
                        <a:spcBef>
                          <a:spcPts val="400"/>
                        </a:spcBef>
                      </a:pPr>
                      <a:r>
                        <a:rPr sz="700" dirty="0">
                          <a:latin typeface="Arial MT"/>
                          <a:cs typeface="Arial MT"/>
                        </a:rPr>
                        <a:t>Designing</a:t>
                      </a:r>
                      <a:r>
                        <a:rPr sz="7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Efficient</a:t>
                      </a:r>
                      <a:r>
                        <a:rPr sz="7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Regular</a:t>
                      </a:r>
                      <a:r>
                        <a:rPr sz="7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spc="-10" dirty="0">
                          <a:latin typeface="Arial MT"/>
                          <a:cs typeface="Arial MT"/>
                        </a:rPr>
                        <a:t>Expression 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Patterns</a:t>
                      </a:r>
                      <a:r>
                        <a:rPr sz="7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for</a:t>
                      </a:r>
                      <a:r>
                        <a:rPr sz="7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Information </a:t>
                      </a:r>
                      <a:r>
                        <a:rPr sz="700" spc="-10" dirty="0">
                          <a:latin typeface="Arial MT"/>
                          <a:cs typeface="Arial MT"/>
                        </a:rPr>
                        <a:t>Extraction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T="34636" marB="0">
                    <a:lnL w="6350">
                      <a:solidFill>
                        <a:srgbClr val="9DC3E6"/>
                      </a:solidFill>
                      <a:prstDash val="solid"/>
                    </a:lnL>
                    <a:lnR w="6350">
                      <a:solidFill>
                        <a:srgbClr val="9DC3E6"/>
                      </a:solidFill>
                      <a:prstDash val="solid"/>
                    </a:lnR>
                    <a:lnT w="6350">
                      <a:solidFill>
                        <a:srgbClr val="9DC3E6"/>
                      </a:solidFill>
                      <a:prstDash val="solid"/>
                    </a:lnT>
                    <a:lnB w="6350">
                      <a:solidFill>
                        <a:srgbClr val="9DC3E6"/>
                      </a:solidFill>
                      <a:prstDash val="solid"/>
                    </a:lnB>
                    <a:solidFill>
                      <a:srgbClr val="D5E3EF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700" dirty="0">
                          <a:latin typeface="Arial MT"/>
                          <a:cs typeface="Arial MT"/>
                        </a:rPr>
                        <a:t>Text</a:t>
                      </a:r>
                      <a:r>
                        <a:rPr sz="7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Mining,</a:t>
                      </a:r>
                      <a:r>
                        <a:rPr sz="7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Data</a:t>
                      </a:r>
                      <a:r>
                        <a:rPr sz="7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Extraction</a:t>
                      </a:r>
                      <a:r>
                        <a:rPr sz="7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spc="-10" dirty="0">
                          <a:latin typeface="Arial MT"/>
                          <a:cs typeface="Arial MT"/>
                        </a:rPr>
                        <a:t>Techniques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T="27709" marB="0">
                    <a:lnL w="6350">
                      <a:solidFill>
                        <a:srgbClr val="9DC3E6"/>
                      </a:solidFill>
                      <a:prstDash val="solid"/>
                    </a:lnL>
                    <a:lnR w="6350">
                      <a:solidFill>
                        <a:srgbClr val="9DC3E6"/>
                      </a:solidFill>
                      <a:prstDash val="solid"/>
                    </a:lnR>
                    <a:lnT w="6350">
                      <a:solidFill>
                        <a:srgbClr val="9DC3E6"/>
                      </a:solidFill>
                      <a:prstDash val="solid"/>
                    </a:lnT>
                    <a:lnB w="6350">
                      <a:solidFill>
                        <a:srgbClr val="9DC3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700" dirty="0">
                          <a:latin typeface="Arial MT"/>
                          <a:cs typeface="Arial MT"/>
                        </a:rPr>
                        <a:t>TP-</a:t>
                      </a:r>
                      <a:r>
                        <a:rPr sz="700" spc="-25" dirty="0">
                          <a:latin typeface="Arial MT"/>
                          <a:cs typeface="Arial MT"/>
                        </a:rPr>
                        <a:t>04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T="27709" marB="0">
                    <a:lnL w="6350">
                      <a:solidFill>
                        <a:srgbClr val="9DC3E6"/>
                      </a:solidFill>
                      <a:prstDash val="solid"/>
                    </a:lnL>
                    <a:lnR w="6350">
                      <a:solidFill>
                        <a:srgbClr val="9DC3E6"/>
                      </a:solidFill>
                      <a:prstDash val="solid"/>
                    </a:lnR>
                    <a:lnT w="6350">
                      <a:solidFill>
                        <a:srgbClr val="9DC3E6"/>
                      </a:solidFill>
                      <a:prstDash val="solid"/>
                    </a:lnT>
                    <a:lnB w="6350">
                      <a:solidFill>
                        <a:srgbClr val="9DC3E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3669">
                <a:tc>
                  <a:txBody>
                    <a:bodyPr/>
                    <a:lstStyle/>
                    <a:p>
                      <a:pPr marL="76200" marR="109220">
                        <a:lnSpc>
                          <a:spcPts val="1150"/>
                        </a:lnSpc>
                        <a:spcBef>
                          <a:spcPts val="400"/>
                        </a:spcBef>
                      </a:pPr>
                      <a:r>
                        <a:rPr sz="700" dirty="0">
                          <a:latin typeface="Arial MT"/>
                          <a:cs typeface="Arial MT"/>
                        </a:rPr>
                        <a:t>Finite</a:t>
                      </a:r>
                      <a:r>
                        <a:rPr sz="7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State</a:t>
                      </a:r>
                      <a:r>
                        <a:rPr sz="7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Automata</a:t>
                      </a:r>
                      <a:r>
                        <a:rPr sz="7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in Natural</a:t>
                      </a:r>
                      <a:r>
                        <a:rPr sz="700" spc="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spc="-10" dirty="0">
                          <a:latin typeface="Arial MT"/>
                          <a:cs typeface="Arial MT"/>
                        </a:rPr>
                        <a:t>Language Processing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T="34636" marB="0">
                    <a:lnL w="6350">
                      <a:solidFill>
                        <a:srgbClr val="9DC3E6"/>
                      </a:solidFill>
                      <a:prstDash val="solid"/>
                    </a:lnL>
                    <a:lnR w="6350">
                      <a:solidFill>
                        <a:srgbClr val="9DC3E6"/>
                      </a:solidFill>
                      <a:prstDash val="solid"/>
                    </a:lnR>
                    <a:lnT w="6350">
                      <a:solidFill>
                        <a:srgbClr val="9DC3E6"/>
                      </a:solidFill>
                      <a:prstDash val="solid"/>
                    </a:lnT>
                    <a:lnB w="6350">
                      <a:solidFill>
                        <a:srgbClr val="9DC3E6"/>
                      </a:solidFill>
                      <a:prstDash val="solid"/>
                    </a:lnB>
                    <a:solidFill>
                      <a:srgbClr val="D5E3EF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700" dirty="0">
                          <a:latin typeface="Arial MT"/>
                          <a:cs typeface="Arial MT"/>
                        </a:rPr>
                        <a:t>State</a:t>
                      </a:r>
                      <a:r>
                        <a:rPr sz="700" spc="-5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Transitions,</a:t>
                      </a:r>
                      <a:r>
                        <a:rPr sz="7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Language</a:t>
                      </a:r>
                      <a:r>
                        <a:rPr sz="7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spc="-10" dirty="0">
                          <a:latin typeface="Arial MT"/>
                          <a:cs typeface="Arial MT"/>
                        </a:rPr>
                        <a:t>Recognition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T="27709" marB="0">
                    <a:lnL w="6350">
                      <a:solidFill>
                        <a:srgbClr val="9DC3E6"/>
                      </a:solidFill>
                      <a:prstDash val="solid"/>
                    </a:lnL>
                    <a:lnR w="6350">
                      <a:solidFill>
                        <a:srgbClr val="9DC3E6"/>
                      </a:solidFill>
                      <a:prstDash val="solid"/>
                    </a:lnR>
                    <a:lnT w="6350">
                      <a:solidFill>
                        <a:srgbClr val="9DC3E6"/>
                      </a:solidFill>
                      <a:prstDash val="solid"/>
                    </a:lnT>
                    <a:lnB w="6350">
                      <a:solidFill>
                        <a:srgbClr val="9DC3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700" dirty="0">
                          <a:latin typeface="Arial MT"/>
                          <a:cs typeface="Arial MT"/>
                        </a:rPr>
                        <a:t>TP-</a:t>
                      </a:r>
                      <a:r>
                        <a:rPr sz="700" spc="-25" dirty="0">
                          <a:latin typeface="Arial MT"/>
                          <a:cs typeface="Arial MT"/>
                        </a:rPr>
                        <a:t>05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T="27709" marB="0">
                    <a:lnL w="6350">
                      <a:solidFill>
                        <a:srgbClr val="9DC3E6"/>
                      </a:solidFill>
                      <a:prstDash val="solid"/>
                    </a:lnL>
                    <a:lnR w="6350">
                      <a:solidFill>
                        <a:srgbClr val="9DC3E6"/>
                      </a:solidFill>
                      <a:prstDash val="solid"/>
                    </a:lnR>
                    <a:lnT w="6350">
                      <a:solidFill>
                        <a:srgbClr val="9DC3E6"/>
                      </a:solidFill>
                      <a:prstDash val="solid"/>
                    </a:lnT>
                    <a:lnB w="6350">
                      <a:solidFill>
                        <a:srgbClr val="9DC3E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4102">
                <a:tc>
                  <a:txBody>
                    <a:bodyPr/>
                    <a:lstStyle/>
                    <a:p>
                      <a:pPr marL="76200" marR="436245">
                        <a:lnSpc>
                          <a:spcPts val="1150"/>
                        </a:lnSpc>
                        <a:spcBef>
                          <a:spcPts val="400"/>
                        </a:spcBef>
                      </a:pPr>
                      <a:r>
                        <a:rPr sz="700" dirty="0">
                          <a:latin typeface="Arial MT"/>
                          <a:cs typeface="Arial MT"/>
                        </a:rPr>
                        <a:t>Building</a:t>
                      </a:r>
                      <a:r>
                        <a:rPr sz="7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a</a:t>
                      </a:r>
                      <a:r>
                        <a:rPr sz="7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Finite</a:t>
                      </a:r>
                      <a:r>
                        <a:rPr sz="7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State</a:t>
                      </a:r>
                      <a:r>
                        <a:rPr sz="7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Automaton</a:t>
                      </a:r>
                      <a:r>
                        <a:rPr sz="7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spc="-25" dirty="0">
                          <a:latin typeface="Arial MT"/>
                          <a:cs typeface="Arial MT"/>
                        </a:rPr>
                        <a:t>for 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Token </a:t>
                      </a:r>
                      <a:r>
                        <a:rPr sz="700" spc="-10" dirty="0">
                          <a:latin typeface="Arial MT"/>
                          <a:cs typeface="Arial MT"/>
                        </a:rPr>
                        <a:t>Recognition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T="34636" marB="0">
                    <a:lnL w="6350">
                      <a:solidFill>
                        <a:srgbClr val="9DC3E6"/>
                      </a:solidFill>
                      <a:prstDash val="solid"/>
                    </a:lnL>
                    <a:lnR w="6350">
                      <a:solidFill>
                        <a:srgbClr val="9DC3E6"/>
                      </a:solidFill>
                      <a:prstDash val="solid"/>
                    </a:lnR>
                    <a:lnT w="6350">
                      <a:solidFill>
                        <a:srgbClr val="9DC3E6"/>
                      </a:solidFill>
                      <a:prstDash val="solid"/>
                    </a:lnT>
                    <a:lnB w="6350">
                      <a:solidFill>
                        <a:srgbClr val="9DC3E6"/>
                      </a:solidFill>
                      <a:prstDash val="solid"/>
                    </a:lnB>
                    <a:solidFill>
                      <a:srgbClr val="D5E3EF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700" dirty="0">
                          <a:latin typeface="Arial MT"/>
                          <a:cs typeface="Arial MT"/>
                        </a:rPr>
                        <a:t>Lexical</a:t>
                      </a:r>
                      <a:r>
                        <a:rPr sz="7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Analysis,</a:t>
                      </a:r>
                      <a:r>
                        <a:rPr sz="7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Token</a:t>
                      </a:r>
                      <a:r>
                        <a:rPr sz="7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spc="-10" dirty="0">
                          <a:latin typeface="Arial MT"/>
                          <a:cs typeface="Arial MT"/>
                        </a:rPr>
                        <a:t>Validation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T="27709" marB="0">
                    <a:lnL w="6350">
                      <a:solidFill>
                        <a:srgbClr val="9DC3E6"/>
                      </a:solidFill>
                      <a:prstDash val="solid"/>
                    </a:lnL>
                    <a:lnR w="6350">
                      <a:solidFill>
                        <a:srgbClr val="9DC3E6"/>
                      </a:solidFill>
                      <a:prstDash val="solid"/>
                    </a:lnR>
                    <a:lnT w="6350">
                      <a:solidFill>
                        <a:srgbClr val="9DC3E6"/>
                      </a:solidFill>
                      <a:prstDash val="solid"/>
                    </a:lnT>
                    <a:lnB w="6350">
                      <a:solidFill>
                        <a:srgbClr val="9DC3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700" dirty="0">
                          <a:latin typeface="Arial MT"/>
                          <a:cs typeface="Arial MT"/>
                        </a:rPr>
                        <a:t>TP-</a:t>
                      </a:r>
                      <a:r>
                        <a:rPr sz="700" spc="-25" dirty="0">
                          <a:latin typeface="Arial MT"/>
                          <a:cs typeface="Arial MT"/>
                        </a:rPr>
                        <a:t>06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T="27709" marB="0">
                    <a:lnL w="6350">
                      <a:solidFill>
                        <a:srgbClr val="9DC3E6"/>
                      </a:solidFill>
                      <a:prstDash val="solid"/>
                    </a:lnL>
                    <a:lnR w="6350">
                      <a:solidFill>
                        <a:srgbClr val="9DC3E6"/>
                      </a:solidFill>
                      <a:prstDash val="solid"/>
                    </a:lnR>
                    <a:lnT w="6350">
                      <a:solidFill>
                        <a:srgbClr val="9DC3E6"/>
                      </a:solidFill>
                      <a:prstDash val="solid"/>
                    </a:lnT>
                    <a:lnB w="6350">
                      <a:solidFill>
                        <a:srgbClr val="9DC3E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5834">
                <a:tc>
                  <a:txBody>
                    <a:bodyPr/>
                    <a:lstStyle/>
                    <a:p>
                      <a:pPr marL="76200" marR="71755">
                        <a:lnSpc>
                          <a:spcPts val="1150"/>
                        </a:lnSpc>
                        <a:spcBef>
                          <a:spcPts val="400"/>
                        </a:spcBef>
                      </a:pPr>
                      <a:r>
                        <a:rPr sz="700" dirty="0">
                          <a:latin typeface="Arial MT"/>
                          <a:cs typeface="Arial MT"/>
                        </a:rPr>
                        <a:t>Morphology and</a:t>
                      </a:r>
                      <a:r>
                        <a:rPr sz="7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Word</a:t>
                      </a:r>
                      <a:r>
                        <a:rPr sz="7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Formation</a:t>
                      </a:r>
                      <a:r>
                        <a:rPr sz="7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in</a:t>
                      </a:r>
                      <a:r>
                        <a:rPr sz="7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spc="-10" dirty="0">
                          <a:latin typeface="Arial MT"/>
                          <a:cs typeface="Arial MT"/>
                        </a:rPr>
                        <a:t>Natural Languages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T="34636" marB="0">
                    <a:lnL w="6350">
                      <a:solidFill>
                        <a:srgbClr val="9DC3E6"/>
                      </a:solidFill>
                      <a:prstDash val="solid"/>
                    </a:lnL>
                    <a:lnR w="6350">
                      <a:solidFill>
                        <a:srgbClr val="9DC3E6"/>
                      </a:solidFill>
                      <a:prstDash val="solid"/>
                    </a:lnR>
                    <a:lnT w="6350">
                      <a:solidFill>
                        <a:srgbClr val="9DC3E6"/>
                      </a:solidFill>
                      <a:prstDash val="solid"/>
                    </a:lnT>
                    <a:lnB w="6350">
                      <a:solidFill>
                        <a:srgbClr val="9DC3E6"/>
                      </a:solidFill>
                      <a:prstDash val="solid"/>
                    </a:lnB>
                    <a:solidFill>
                      <a:srgbClr val="D5E3EF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700" dirty="0">
                          <a:latin typeface="Arial MT"/>
                          <a:cs typeface="Arial MT"/>
                        </a:rPr>
                        <a:t>Morpheme</a:t>
                      </a:r>
                      <a:r>
                        <a:rPr sz="7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Analysis,</a:t>
                      </a:r>
                      <a:r>
                        <a:rPr sz="700" spc="-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Word</a:t>
                      </a:r>
                      <a:r>
                        <a:rPr sz="7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Structure</a:t>
                      </a:r>
                      <a:r>
                        <a:rPr sz="7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spc="-10" dirty="0">
                          <a:latin typeface="Arial MT"/>
                          <a:cs typeface="Arial MT"/>
                        </a:rPr>
                        <a:t>Processing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T="27709" marB="0">
                    <a:lnL w="6350">
                      <a:solidFill>
                        <a:srgbClr val="9DC3E6"/>
                      </a:solidFill>
                      <a:prstDash val="solid"/>
                    </a:lnL>
                    <a:lnR w="6350">
                      <a:solidFill>
                        <a:srgbClr val="9DC3E6"/>
                      </a:solidFill>
                      <a:prstDash val="solid"/>
                    </a:lnR>
                    <a:lnT w="6350">
                      <a:solidFill>
                        <a:srgbClr val="9DC3E6"/>
                      </a:solidFill>
                      <a:prstDash val="solid"/>
                    </a:lnT>
                    <a:lnB w="6350">
                      <a:solidFill>
                        <a:srgbClr val="9DC3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700" dirty="0">
                          <a:latin typeface="Arial MT"/>
                          <a:cs typeface="Arial MT"/>
                        </a:rPr>
                        <a:t>TP-</a:t>
                      </a:r>
                      <a:r>
                        <a:rPr sz="700" spc="-25" dirty="0">
                          <a:latin typeface="Arial MT"/>
                          <a:cs typeface="Arial MT"/>
                        </a:rPr>
                        <a:t>07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T="27709" marB="0">
                    <a:lnL w="6350">
                      <a:solidFill>
                        <a:srgbClr val="9DC3E6"/>
                      </a:solidFill>
                      <a:prstDash val="solid"/>
                    </a:lnL>
                    <a:lnR w="6350">
                      <a:solidFill>
                        <a:srgbClr val="9DC3E6"/>
                      </a:solidFill>
                      <a:prstDash val="solid"/>
                    </a:lnR>
                    <a:lnT w="6350">
                      <a:solidFill>
                        <a:srgbClr val="9DC3E6"/>
                      </a:solidFill>
                      <a:prstDash val="solid"/>
                    </a:lnT>
                    <a:lnB w="6350">
                      <a:solidFill>
                        <a:srgbClr val="9DC3E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3669">
                <a:tc>
                  <a:txBody>
                    <a:bodyPr/>
                    <a:lstStyle/>
                    <a:p>
                      <a:pPr marL="76200" marR="304165">
                        <a:lnSpc>
                          <a:spcPts val="1150"/>
                        </a:lnSpc>
                        <a:spcBef>
                          <a:spcPts val="375"/>
                        </a:spcBef>
                      </a:pPr>
                      <a:r>
                        <a:rPr sz="700" dirty="0">
                          <a:latin typeface="Arial MT"/>
                          <a:cs typeface="Arial MT"/>
                        </a:rPr>
                        <a:t>Inflectional</a:t>
                      </a:r>
                      <a:r>
                        <a:rPr sz="7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Morphology:</a:t>
                      </a:r>
                      <a:r>
                        <a:rPr sz="700" spc="-10" dirty="0">
                          <a:latin typeface="Arial MT"/>
                          <a:cs typeface="Arial MT"/>
                        </a:rPr>
                        <a:t> Understanding 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Grammatical</a:t>
                      </a:r>
                      <a:r>
                        <a:rPr sz="700" spc="-5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spc="-10" dirty="0">
                          <a:latin typeface="Arial MT"/>
                          <a:cs typeface="Arial MT"/>
                        </a:rPr>
                        <a:t>Variations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T="32472" marB="0">
                    <a:lnL w="6350">
                      <a:solidFill>
                        <a:srgbClr val="9DC3E6"/>
                      </a:solidFill>
                      <a:prstDash val="solid"/>
                    </a:lnL>
                    <a:lnR w="6350">
                      <a:solidFill>
                        <a:srgbClr val="9DC3E6"/>
                      </a:solidFill>
                      <a:prstDash val="solid"/>
                    </a:lnR>
                    <a:lnT w="6350">
                      <a:solidFill>
                        <a:srgbClr val="9DC3E6"/>
                      </a:solidFill>
                      <a:prstDash val="solid"/>
                    </a:lnT>
                    <a:lnB w="6350">
                      <a:solidFill>
                        <a:srgbClr val="9DC3E6"/>
                      </a:solidFill>
                      <a:prstDash val="solid"/>
                    </a:lnB>
                    <a:solidFill>
                      <a:srgbClr val="D5E3EF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700" dirty="0">
                          <a:latin typeface="Arial MT"/>
                          <a:cs typeface="Arial MT"/>
                        </a:rPr>
                        <a:t>Grammatical</a:t>
                      </a:r>
                      <a:r>
                        <a:rPr sz="7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Analysis,</a:t>
                      </a:r>
                      <a:r>
                        <a:rPr sz="700" spc="-5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Word</a:t>
                      </a:r>
                      <a:r>
                        <a:rPr sz="7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spc="-10" dirty="0">
                          <a:latin typeface="Arial MT"/>
                          <a:cs typeface="Arial MT"/>
                        </a:rPr>
                        <a:t>Normalization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T="25544" marB="0">
                    <a:lnL w="6350">
                      <a:solidFill>
                        <a:srgbClr val="9DC3E6"/>
                      </a:solidFill>
                      <a:prstDash val="solid"/>
                    </a:lnL>
                    <a:lnR w="6350">
                      <a:solidFill>
                        <a:srgbClr val="9DC3E6"/>
                      </a:solidFill>
                      <a:prstDash val="solid"/>
                    </a:lnR>
                    <a:lnT w="6350">
                      <a:solidFill>
                        <a:srgbClr val="9DC3E6"/>
                      </a:solidFill>
                      <a:prstDash val="solid"/>
                    </a:lnT>
                    <a:lnB w="6350">
                      <a:solidFill>
                        <a:srgbClr val="9DC3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700" dirty="0">
                          <a:latin typeface="Arial MT"/>
                          <a:cs typeface="Arial MT"/>
                        </a:rPr>
                        <a:t>TP-</a:t>
                      </a:r>
                      <a:r>
                        <a:rPr sz="700" spc="-25" dirty="0">
                          <a:latin typeface="Arial MT"/>
                          <a:cs typeface="Arial MT"/>
                        </a:rPr>
                        <a:t>08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T="25544" marB="0">
                    <a:lnL w="6350">
                      <a:solidFill>
                        <a:srgbClr val="9DC3E6"/>
                      </a:solidFill>
                      <a:prstDash val="solid"/>
                    </a:lnL>
                    <a:lnR w="6350">
                      <a:solidFill>
                        <a:srgbClr val="9DC3E6"/>
                      </a:solidFill>
                      <a:prstDash val="solid"/>
                    </a:lnR>
                    <a:lnT w="6350">
                      <a:solidFill>
                        <a:srgbClr val="9DC3E6"/>
                      </a:solidFill>
                      <a:prstDash val="solid"/>
                    </a:lnT>
                    <a:lnB w="6350">
                      <a:solidFill>
                        <a:srgbClr val="9DC3E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4102">
                <a:tc>
                  <a:txBody>
                    <a:bodyPr/>
                    <a:lstStyle/>
                    <a:p>
                      <a:pPr marL="76200" marR="219075">
                        <a:lnSpc>
                          <a:spcPts val="1150"/>
                        </a:lnSpc>
                        <a:spcBef>
                          <a:spcPts val="375"/>
                        </a:spcBef>
                      </a:pPr>
                      <a:r>
                        <a:rPr sz="700" dirty="0">
                          <a:latin typeface="Arial MT"/>
                          <a:cs typeface="Arial MT"/>
                        </a:rPr>
                        <a:t>Derivational</a:t>
                      </a:r>
                      <a:r>
                        <a:rPr sz="7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Morphology</a:t>
                      </a:r>
                      <a:r>
                        <a:rPr sz="7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and</a:t>
                      </a:r>
                      <a:r>
                        <a:rPr sz="7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spc="-10" dirty="0">
                          <a:latin typeface="Arial MT"/>
                          <a:cs typeface="Arial MT"/>
                        </a:rPr>
                        <a:t>Vocabulary Expansion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T="32472" marB="0">
                    <a:lnL w="6350">
                      <a:solidFill>
                        <a:srgbClr val="9DC3E6"/>
                      </a:solidFill>
                      <a:prstDash val="solid"/>
                    </a:lnL>
                    <a:lnR w="6350">
                      <a:solidFill>
                        <a:srgbClr val="9DC3E6"/>
                      </a:solidFill>
                      <a:prstDash val="solid"/>
                    </a:lnR>
                    <a:lnT w="6350">
                      <a:solidFill>
                        <a:srgbClr val="9DC3E6"/>
                      </a:solidFill>
                      <a:prstDash val="solid"/>
                    </a:lnT>
                    <a:lnB w="6350">
                      <a:solidFill>
                        <a:srgbClr val="9DC3E6"/>
                      </a:solidFill>
                      <a:prstDash val="solid"/>
                    </a:lnB>
                    <a:solidFill>
                      <a:srgbClr val="D5E3EF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700" dirty="0">
                          <a:latin typeface="Arial MT"/>
                          <a:cs typeface="Arial MT"/>
                        </a:rPr>
                        <a:t>Word</a:t>
                      </a:r>
                      <a:r>
                        <a:rPr sz="7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Generation,</a:t>
                      </a:r>
                      <a:r>
                        <a:rPr sz="7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Semantic</a:t>
                      </a:r>
                      <a:r>
                        <a:rPr sz="7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spc="-10" dirty="0">
                          <a:latin typeface="Arial MT"/>
                          <a:cs typeface="Arial MT"/>
                        </a:rPr>
                        <a:t>Transformation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T="25544" marB="0">
                    <a:lnL w="6350">
                      <a:solidFill>
                        <a:srgbClr val="9DC3E6"/>
                      </a:solidFill>
                      <a:prstDash val="solid"/>
                    </a:lnL>
                    <a:lnR w="6350">
                      <a:solidFill>
                        <a:srgbClr val="9DC3E6"/>
                      </a:solidFill>
                      <a:prstDash val="solid"/>
                    </a:lnR>
                    <a:lnT w="6350">
                      <a:solidFill>
                        <a:srgbClr val="9DC3E6"/>
                      </a:solidFill>
                      <a:prstDash val="solid"/>
                    </a:lnT>
                    <a:lnB w="6350">
                      <a:solidFill>
                        <a:srgbClr val="9DC3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700" dirty="0">
                          <a:latin typeface="Arial MT"/>
                          <a:cs typeface="Arial MT"/>
                        </a:rPr>
                        <a:t>TP-</a:t>
                      </a:r>
                      <a:r>
                        <a:rPr sz="700" spc="-25" dirty="0">
                          <a:latin typeface="Arial MT"/>
                          <a:cs typeface="Arial MT"/>
                        </a:rPr>
                        <a:t>09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T="25544" marB="0">
                    <a:lnL w="6350">
                      <a:solidFill>
                        <a:srgbClr val="9DC3E6"/>
                      </a:solidFill>
                      <a:prstDash val="solid"/>
                    </a:lnL>
                    <a:lnR w="6350">
                      <a:solidFill>
                        <a:srgbClr val="9DC3E6"/>
                      </a:solidFill>
                      <a:prstDash val="solid"/>
                    </a:lnR>
                    <a:lnT w="6350">
                      <a:solidFill>
                        <a:srgbClr val="9DC3E6"/>
                      </a:solidFill>
                      <a:prstDash val="solid"/>
                    </a:lnT>
                    <a:lnB w="6350">
                      <a:solidFill>
                        <a:srgbClr val="9DC3E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3669">
                <a:tc>
                  <a:txBody>
                    <a:bodyPr/>
                    <a:lstStyle/>
                    <a:p>
                      <a:pPr marL="76200" marR="245745">
                        <a:lnSpc>
                          <a:spcPts val="1150"/>
                        </a:lnSpc>
                        <a:spcBef>
                          <a:spcPts val="375"/>
                        </a:spcBef>
                      </a:pPr>
                      <a:r>
                        <a:rPr sz="700" dirty="0">
                          <a:latin typeface="Arial MT"/>
                          <a:cs typeface="Arial MT"/>
                        </a:rPr>
                        <a:t>Comparative</a:t>
                      </a:r>
                      <a:r>
                        <a:rPr sz="7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Analysis</a:t>
                      </a:r>
                      <a:r>
                        <a:rPr sz="7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of</a:t>
                      </a:r>
                      <a:r>
                        <a:rPr sz="7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Inflectional</a:t>
                      </a:r>
                      <a:r>
                        <a:rPr sz="7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spc="-25" dirty="0">
                          <a:latin typeface="Arial MT"/>
                          <a:cs typeface="Arial MT"/>
                        </a:rPr>
                        <a:t>and 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Derivational</a:t>
                      </a:r>
                      <a:r>
                        <a:rPr sz="7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spc="-10" dirty="0">
                          <a:latin typeface="Arial MT"/>
                          <a:cs typeface="Arial MT"/>
                        </a:rPr>
                        <a:t>Morphology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T="32472" marB="0">
                    <a:lnL w="6350">
                      <a:solidFill>
                        <a:srgbClr val="9DC3E6"/>
                      </a:solidFill>
                      <a:prstDash val="solid"/>
                    </a:lnL>
                    <a:lnR w="6350">
                      <a:solidFill>
                        <a:srgbClr val="9DC3E6"/>
                      </a:solidFill>
                      <a:prstDash val="solid"/>
                    </a:lnR>
                    <a:lnT w="6350">
                      <a:solidFill>
                        <a:srgbClr val="9DC3E6"/>
                      </a:solidFill>
                      <a:prstDash val="solid"/>
                    </a:lnT>
                    <a:lnB w="6350">
                      <a:solidFill>
                        <a:srgbClr val="9DC3E6"/>
                      </a:solidFill>
                      <a:prstDash val="solid"/>
                    </a:lnB>
                    <a:solidFill>
                      <a:srgbClr val="D5E3EF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700" dirty="0">
                          <a:latin typeface="Arial MT"/>
                          <a:cs typeface="Arial MT"/>
                        </a:rPr>
                        <a:t>Morphological</a:t>
                      </a:r>
                      <a:r>
                        <a:rPr sz="7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Classification,</a:t>
                      </a:r>
                      <a:r>
                        <a:rPr sz="7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Language</a:t>
                      </a:r>
                      <a:r>
                        <a:rPr sz="700" spc="-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spc="-10" dirty="0">
                          <a:latin typeface="Arial MT"/>
                          <a:cs typeface="Arial MT"/>
                        </a:rPr>
                        <a:t>Analysis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T="25544" marB="0">
                    <a:lnL w="6350">
                      <a:solidFill>
                        <a:srgbClr val="9DC3E6"/>
                      </a:solidFill>
                      <a:prstDash val="solid"/>
                    </a:lnL>
                    <a:lnR w="6350">
                      <a:solidFill>
                        <a:srgbClr val="9DC3E6"/>
                      </a:solidFill>
                      <a:prstDash val="solid"/>
                    </a:lnR>
                    <a:lnT w="6350">
                      <a:solidFill>
                        <a:srgbClr val="9DC3E6"/>
                      </a:solidFill>
                      <a:prstDash val="solid"/>
                    </a:lnT>
                    <a:lnB w="6350">
                      <a:solidFill>
                        <a:srgbClr val="9DC3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700" dirty="0">
                          <a:latin typeface="Arial MT"/>
                          <a:cs typeface="Arial MT"/>
                        </a:rPr>
                        <a:t>TP-</a:t>
                      </a:r>
                      <a:r>
                        <a:rPr sz="700" spc="-25" dirty="0">
                          <a:latin typeface="Arial MT"/>
                          <a:cs typeface="Arial MT"/>
                        </a:rPr>
                        <a:t>10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T="25544" marB="0">
                    <a:lnL w="6350">
                      <a:solidFill>
                        <a:srgbClr val="9DC3E6"/>
                      </a:solidFill>
                      <a:prstDash val="solid"/>
                    </a:lnL>
                    <a:lnR w="6350">
                      <a:solidFill>
                        <a:srgbClr val="9DC3E6"/>
                      </a:solidFill>
                      <a:prstDash val="solid"/>
                    </a:lnR>
                    <a:lnT w="6350">
                      <a:solidFill>
                        <a:srgbClr val="9DC3E6"/>
                      </a:solidFill>
                      <a:prstDash val="solid"/>
                    </a:lnT>
                    <a:lnB w="6350">
                      <a:solidFill>
                        <a:srgbClr val="9DC3E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3914116" y="184958"/>
          <a:ext cx="4357686" cy="188534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6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223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801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4102">
                <a:tc>
                  <a:txBody>
                    <a:bodyPr/>
                    <a:lstStyle/>
                    <a:p>
                      <a:pPr marL="76200" marR="565150">
                        <a:lnSpc>
                          <a:spcPts val="1150"/>
                        </a:lnSpc>
                        <a:spcBef>
                          <a:spcPts val="375"/>
                        </a:spcBef>
                      </a:pPr>
                      <a:r>
                        <a:rPr sz="700" dirty="0">
                          <a:latin typeface="Arial MT"/>
                          <a:cs typeface="Arial MT"/>
                        </a:rPr>
                        <a:t>Finite-State</a:t>
                      </a:r>
                      <a:r>
                        <a:rPr sz="700" spc="-5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Morphological</a:t>
                      </a:r>
                      <a:r>
                        <a:rPr sz="7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spc="-10" dirty="0">
                          <a:latin typeface="Arial MT"/>
                          <a:cs typeface="Arial MT"/>
                        </a:rPr>
                        <a:t>Parsing Techniques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T="32472" marB="0">
                    <a:lnL w="6350">
                      <a:solidFill>
                        <a:srgbClr val="9DC3E6"/>
                      </a:solidFill>
                      <a:prstDash val="solid"/>
                    </a:lnL>
                    <a:lnR w="6350">
                      <a:solidFill>
                        <a:srgbClr val="9DC3E6"/>
                      </a:solidFill>
                      <a:prstDash val="solid"/>
                    </a:lnR>
                    <a:lnT w="6350">
                      <a:solidFill>
                        <a:srgbClr val="9DC3E6"/>
                      </a:solidFill>
                      <a:prstDash val="solid"/>
                    </a:lnT>
                    <a:lnB w="6350">
                      <a:solidFill>
                        <a:srgbClr val="9DC3E6"/>
                      </a:solidFill>
                      <a:prstDash val="solid"/>
                    </a:lnB>
                    <a:solidFill>
                      <a:srgbClr val="D5E3EF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700" dirty="0">
                          <a:latin typeface="Arial MT"/>
                          <a:cs typeface="Arial MT"/>
                        </a:rPr>
                        <a:t>Morphological</a:t>
                      </a:r>
                      <a:r>
                        <a:rPr sz="700" spc="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Parsing,</a:t>
                      </a:r>
                      <a:r>
                        <a:rPr sz="7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spc="-10" dirty="0">
                          <a:latin typeface="Arial MT"/>
                          <a:cs typeface="Arial MT"/>
                        </a:rPr>
                        <a:t>Finite-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State</a:t>
                      </a:r>
                      <a:r>
                        <a:rPr sz="700" spc="-10" dirty="0">
                          <a:latin typeface="Arial MT"/>
                          <a:cs typeface="Arial MT"/>
                        </a:rPr>
                        <a:t> Processing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T="25544" marB="0">
                    <a:lnL w="6350">
                      <a:solidFill>
                        <a:srgbClr val="9DC3E6"/>
                      </a:solidFill>
                      <a:prstDash val="solid"/>
                    </a:lnL>
                    <a:lnR w="6350">
                      <a:solidFill>
                        <a:srgbClr val="9DC3E6"/>
                      </a:solidFill>
                      <a:prstDash val="solid"/>
                    </a:lnR>
                    <a:lnT w="6350">
                      <a:solidFill>
                        <a:srgbClr val="9DC3E6"/>
                      </a:solidFill>
                      <a:prstDash val="solid"/>
                    </a:lnT>
                    <a:lnB w="6350">
                      <a:solidFill>
                        <a:srgbClr val="9DC3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700" dirty="0">
                          <a:latin typeface="Arial MT"/>
                          <a:cs typeface="Arial MT"/>
                        </a:rPr>
                        <a:t>TP-</a:t>
                      </a:r>
                      <a:r>
                        <a:rPr sz="700" spc="-25" dirty="0">
                          <a:latin typeface="Arial MT"/>
                          <a:cs typeface="Arial MT"/>
                        </a:rPr>
                        <a:t>11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T="25544" marB="0">
                    <a:lnL w="6350">
                      <a:solidFill>
                        <a:srgbClr val="9DC3E6"/>
                      </a:solidFill>
                      <a:prstDash val="solid"/>
                    </a:lnL>
                    <a:lnR w="6350">
                      <a:solidFill>
                        <a:srgbClr val="9DC3E6"/>
                      </a:solidFill>
                      <a:prstDash val="solid"/>
                    </a:lnR>
                    <a:lnT w="6350">
                      <a:solidFill>
                        <a:srgbClr val="9DC3E6"/>
                      </a:solidFill>
                      <a:prstDash val="solid"/>
                    </a:lnT>
                    <a:lnB w="6350">
                      <a:solidFill>
                        <a:srgbClr val="9DC3E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3669">
                <a:tc>
                  <a:txBody>
                    <a:bodyPr/>
                    <a:lstStyle/>
                    <a:p>
                      <a:pPr marL="76200" marR="640715">
                        <a:lnSpc>
                          <a:spcPts val="1150"/>
                        </a:lnSpc>
                        <a:spcBef>
                          <a:spcPts val="375"/>
                        </a:spcBef>
                      </a:pPr>
                      <a:r>
                        <a:rPr sz="700" dirty="0">
                          <a:latin typeface="Arial MT"/>
                          <a:cs typeface="Arial MT"/>
                        </a:rPr>
                        <a:t>Morphological</a:t>
                      </a:r>
                      <a:r>
                        <a:rPr sz="700" spc="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spc="-10" dirty="0">
                          <a:latin typeface="Arial MT"/>
                          <a:cs typeface="Arial MT"/>
                        </a:rPr>
                        <a:t>Analysis</a:t>
                      </a:r>
                      <a:r>
                        <a:rPr sz="7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for </a:t>
                      </a:r>
                      <a:r>
                        <a:rPr sz="700" spc="-10" dirty="0">
                          <a:latin typeface="Arial MT"/>
                          <a:cs typeface="Arial MT"/>
                        </a:rPr>
                        <a:t>Indian Languages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T="32472" marB="0">
                    <a:lnL w="6350">
                      <a:solidFill>
                        <a:srgbClr val="9DC3E6"/>
                      </a:solidFill>
                      <a:prstDash val="solid"/>
                    </a:lnL>
                    <a:lnR w="6350">
                      <a:solidFill>
                        <a:srgbClr val="9DC3E6"/>
                      </a:solidFill>
                      <a:prstDash val="solid"/>
                    </a:lnR>
                    <a:lnT w="6350">
                      <a:solidFill>
                        <a:srgbClr val="9DC3E6"/>
                      </a:solidFill>
                      <a:prstDash val="solid"/>
                    </a:lnT>
                    <a:lnB w="6350">
                      <a:solidFill>
                        <a:srgbClr val="9DC3E6"/>
                      </a:solidFill>
                      <a:prstDash val="solid"/>
                    </a:lnB>
                    <a:solidFill>
                      <a:srgbClr val="D5E3EF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700" spc="-10" dirty="0">
                          <a:latin typeface="Arial MT"/>
                          <a:cs typeface="Arial MT"/>
                        </a:rPr>
                        <a:t>Language-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Specific</a:t>
                      </a:r>
                      <a:r>
                        <a:rPr sz="7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Morphology,</a:t>
                      </a:r>
                      <a:r>
                        <a:rPr sz="700" spc="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NLP</a:t>
                      </a:r>
                      <a:r>
                        <a:rPr sz="7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spc="-10" dirty="0">
                          <a:latin typeface="Arial MT"/>
                          <a:cs typeface="Arial MT"/>
                        </a:rPr>
                        <a:t>Challenges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T="25544" marB="0">
                    <a:lnL w="6350">
                      <a:solidFill>
                        <a:srgbClr val="9DC3E6"/>
                      </a:solidFill>
                      <a:prstDash val="solid"/>
                    </a:lnL>
                    <a:lnR w="6350">
                      <a:solidFill>
                        <a:srgbClr val="9DC3E6"/>
                      </a:solidFill>
                      <a:prstDash val="solid"/>
                    </a:lnR>
                    <a:lnT w="6350">
                      <a:solidFill>
                        <a:srgbClr val="9DC3E6"/>
                      </a:solidFill>
                      <a:prstDash val="solid"/>
                    </a:lnT>
                    <a:lnB w="6350">
                      <a:solidFill>
                        <a:srgbClr val="9DC3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700" dirty="0">
                          <a:latin typeface="Arial MT"/>
                          <a:cs typeface="Arial MT"/>
                        </a:rPr>
                        <a:t>TP-</a:t>
                      </a:r>
                      <a:r>
                        <a:rPr sz="700" spc="-25" dirty="0">
                          <a:latin typeface="Arial MT"/>
                          <a:cs typeface="Arial MT"/>
                        </a:rPr>
                        <a:t>12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T="25544" marB="0">
                    <a:lnL w="6350">
                      <a:solidFill>
                        <a:srgbClr val="9DC3E6"/>
                      </a:solidFill>
                      <a:prstDash val="solid"/>
                    </a:lnL>
                    <a:lnR w="6350">
                      <a:solidFill>
                        <a:srgbClr val="9DC3E6"/>
                      </a:solidFill>
                      <a:prstDash val="solid"/>
                    </a:lnR>
                    <a:lnT w="6350">
                      <a:solidFill>
                        <a:srgbClr val="9DC3E6"/>
                      </a:solidFill>
                      <a:prstDash val="solid"/>
                    </a:lnT>
                    <a:lnB w="6350">
                      <a:solidFill>
                        <a:srgbClr val="9DC3E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3669">
                <a:tc>
                  <a:txBody>
                    <a:bodyPr/>
                    <a:lstStyle/>
                    <a:p>
                      <a:pPr marL="76200" marR="608330">
                        <a:lnSpc>
                          <a:spcPts val="1150"/>
                        </a:lnSpc>
                        <a:spcBef>
                          <a:spcPts val="375"/>
                        </a:spcBef>
                      </a:pPr>
                      <a:r>
                        <a:rPr sz="700" dirty="0">
                          <a:latin typeface="Arial MT"/>
                          <a:cs typeface="Arial MT"/>
                        </a:rPr>
                        <a:t>Porter</a:t>
                      </a:r>
                      <a:r>
                        <a:rPr sz="7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Stemmer:</a:t>
                      </a:r>
                      <a:r>
                        <a:rPr sz="7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Design,</a:t>
                      </a:r>
                      <a:r>
                        <a:rPr sz="700" spc="-5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spc="-10" dirty="0">
                          <a:latin typeface="Arial MT"/>
                          <a:cs typeface="Arial MT"/>
                        </a:rPr>
                        <a:t>Working 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Mechanism,</a:t>
                      </a:r>
                      <a:r>
                        <a:rPr sz="7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and</a:t>
                      </a:r>
                      <a:r>
                        <a:rPr sz="700" spc="-10" dirty="0">
                          <a:latin typeface="Arial MT"/>
                          <a:cs typeface="Arial MT"/>
                        </a:rPr>
                        <a:t> Applications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T="32472" marB="0">
                    <a:lnL w="6350">
                      <a:solidFill>
                        <a:srgbClr val="9DC3E6"/>
                      </a:solidFill>
                      <a:prstDash val="solid"/>
                    </a:lnL>
                    <a:lnR w="6350">
                      <a:solidFill>
                        <a:srgbClr val="9DC3E6"/>
                      </a:solidFill>
                      <a:prstDash val="solid"/>
                    </a:lnR>
                    <a:lnT w="6350">
                      <a:solidFill>
                        <a:srgbClr val="9DC3E6"/>
                      </a:solidFill>
                      <a:prstDash val="solid"/>
                    </a:lnT>
                    <a:lnB w="6350">
                      <a:solidFill>
                        <a:srgbClr val="9DC3E6"/>
                      </a:solidFill>
                      <a:prstDash val="solid"/>
                    </a:lnB>
                    <a:solidFill>
                      <a:srgbClr val="D5E3EF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700" dirty="0">
                          <a:latin typeface="Arial MT"/>
                          <a:cs typeface="Arial MT"/>
                        </a:rPr>
                        <a:t>Stemming</a:t>
                      </a:r>
                      <a:r>
                        <a:rPr sz="700" spc="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spc="-10" dirty="0">
                          <a:latin typeface="Arial MT"/>
                          <a:cs typeface="Arial MT"/>
                        </a:rPr>
                        <a:t>Algorithms,</a:t>
                      </a:r>
                      <a:r>
                        <a:rPr sz="7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Text </a:t>
                      </a:r>
                      <a:r>
                        <a:rPr sz="700" spc="-10" dirty="0">
                          <a:latin typeface="Arial MT"/>
                          <a:cs typeface="Arial MT"/>
                        </a:rPr>
                        <a:t>Preprocessing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T="25544" marB="0">
                    <a:lnL w="6350">
                      <a:solidFill>
                        <a:srgbClr val="9DC3E6"/>
                      </a:solidFill>
                      <a:prstDash val="solid"/>
                    </a:lnL>
                    <a:lnR w="6350">
                      <a:solidFill>
                        <a:srgbClr val="9DC3E6"/>
                      </a:solidFill>
                      <a:prstDash val="solid"/>
                    </a:lnR>
                    <a:lnT w="6350">
                      <a:solidFill>
                        <a:srgbClr val="9DC3E6"/>
                      </a:solidFill>
                      <a:prstDash val="solid"/>
                    </a:lnT>
                    <a:lnB w="6350">
                      <a:solidFill>
                        <a:srgbClr val="9DC3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700" dirty="0">
                          <a:latin typeface="Arial MT"/>
                          <a:cs typeface="Arial MT"/>
                        </a:rPr>
                        <a:t>TP-</a:t>
                      </a:r>
                      <a:r>
                        <a:rPr sz="700" spc="-25" dirty="0">
                          <a:latin typeface="Arial MT"/>
                          <a:cs typeface="Arial MT"/>
                        </a:rPr>
                        <a:t>13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T="25544" marB="0">
                    <a:lnL w="6350">
                      <a:solidFill>
                        <a:srgbClr val="9DC3E6"/>
                      </a:solidFill>
                      <a:prstDash val="solid"/>
                    </a:lnL>
                    <a:lnR w="6350">
                      <a:solidFill>
                        <a:srgbClr val="9DC3E6"/>
                      </a:solidFill>
                      <a:prstDash val="solid"/>
                    </a:lnR>
                    <a:lnT w="6350">
                      <a:solidFill>
                        <a:srgbClr val="9DC3E6"/>
                      </a:solidFill>
                      <a:prstDash val="solid"/>
                    </a:lnT>
                    <a:lnB w="6350">
                      <a:solidFill>
                        <a:srgbClr val="9DC3E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4102">
                <a:tc>
                  <a:txBody>
                    <a:bodyPr/>
                    <a:lstStyle/>
                    <a:p>
                      <a:pPr marL="76200" marR="325755">
                        <a:lnSpc>
                          <a:spcPts val="1130"/>
                        </a:lnSpc>
                        <a:spcBef>
                          <a:spcPts val="415"/>
                        </a:spcBef>
                      </a:pPr>
                      <a:r>
                        <a:rPr sz="700" dirty="0">
                          <a:latin typeface="Arial MT"/>
                          <a:cs typeface="Arial MT"/>
                        </a:rPr>
                        <a:t>Stemming</a:t>
                      </a:r>
                      <a:r>
                        <a:rPr sz="7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vs</a:t>
                      </a:r>
                      <a:r>
                        <a:rPr sz="700" spc="-5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Morphological</a:t>
                      </a:r>
                      <a:r>
                        <a:rPr sz="7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Parsing:</a:t>
                      </a:r>
                      <a:r>
                        <a:rPr sz="7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spc="-50" dirty="0">
                          <a:latin typeface="Arial MT"/>
                          <a:cs typeface="Arial MT"/>
                        </a:rPr>
                        <a:t>A 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Comparative</a:t>
                      </a:r>
                      <a:r>
                        <a:rPr sz="7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spc="-20" dirty="0">
                          <a:latin typeface="Arial MT"/>
                          <a:cs typeface="Arial MT"/>
                        </a:rPr>
                        <a:t>Study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T="35935" marB="0">
                    <a:lnL w="6350">
                      <a:solidFill>
                        <a:srgbClr val="9DC3E6"/>
                      </a:solidFill>
                      <a:prstDash val="solid"/>
                    </a:lnL>
                    <a:lnR w="6350">
                      <a:solidFill>
                        <a:srgbClr val="9DC3E6"/>
                      </a:solidFill>
                      <a:prstDash val="solid"/>
                    </a:lnR>
                    <a:lnT w="6350">
                      <a:solidFill>
                        <a:srgbClr val="9DC3E6"/>
                      </a:solidFill>
                      <a:prstDash val="solid"/>
                    </a:lnT>
                    <a:lnB w="6350">
                      <a:solidFill>
                        <a:srgbClr val="9DC3E6"/>
                      </a:solidFill>
                      <a:prstDash val="solid"/>
                    </a:lnB>
                    <a:solidFill>
                      <a:srgbClr val="D5E3EF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700" dirty="0">
                          <a:latin typeface="Arial MT"/>
                          <a:cs typeface="Arial MT"/>
                        </a:rPr>
                        <a:t>Word</a:t>
                      </a:r>
                      <a:r>
                        <a:rPr sz="7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Reduction,</a:t>
                      </a:r>
                      <a:r>
                        <a:rPr sz="7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Morphological</a:t>
                      </a:r>
                      <a:r>
                        <a:rPr sz="7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spc="-10" dirty="0">
                          <a:latin typeface="Arial MT"/>
                          <a:cs typeface="Arial MT"/>
                        </a:rPr>
                        <a:t>Processing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T="27709" marB="0">
                    <a:lnL w="6350">
                      <a:solidFill>
                        <a:srgbClr val="9DC3E6"/>
                      </a:solidFill>
                      <a:prstDash val="solid"/>
                    </a:lnL>
                    <a:lnR w="6350">
                      <a:solidFill>
                        <a:srgbClr val="9DC3E6"/>
                      </a:solidFill>
                      <a:prstDash val="solid"/>
                    </a:lnR>
                    <a:lnT w="6350">
                      <a:solidFill>
                        <a:srgbClr val="9DC3E6"/>
                      </a:solidFill>
                      <a:prstDash val="solid"/>
                    </a:lnT>
                    <a:lnB w="6350">
                      <a:solidFill>
                        <a:srgbClr val="9DC3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700" dirty="0">
                          <a:latin typeface="Arial MT"/>
                          <a:cs typeface="Arial MT"/>
                        </a:rPr>
                        <a:t>TP-</a:t>
                      </a:r>
                      <a:r>
                        <a:rPr sz="700" spc="-25" dirty="0">
                          <a:latin typeface="Arial MT"/>
                          <a:cs typeface="Arial MT"/>
                        </a:rPr>
                        <a:t>14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T="27709" marB="0">
                    <a:lnL w="6350">
                      <a:solidFill>
                        <a:srgbClr val="9DC3E6"/>
                      </a:solidFill>
                      <a:prstDash val="solid"/>
                    </a:lnL>
                    <a:lnR w="6350">
                      <a:solidFill>
                        <a:srgbClr val="9DC3E6"/>
                      </a:solidFill>
                      <a:prstDash val="solid"/>
                    </a:lnR>
                    <a:lnT w="6350">
                      <a:solidFill>
                        <a:srgbClr val="9DC3E6"/>
                      </a:solidFill>
                      <a:prstDash val="solid"/>
                    </a:lnT>
                    <a:lnB w="6350">
                      <a:solidFill>
                        <a:srgbClr val="9DC3E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3669">
                <a:tc>
                  <a:txBody>
                    <a:bodyPr/>
                    <a:lstStyle/>
                    <a:p>
                      <a:pPr marL="76200" marR="187960">
                        <a:lnSpc>
                          <a:spcPts val="1150"/>
                        </a:lnSpc>
                        <a:spcBef>
                          <a:spcPts val="400"/>
                        </a:spcBef>
                      </a:pPr>
                      <a:r>
                        <a:rPr sz="700" dirty="0">
                          <a:latin typeface="Arial MT"/>
                          <a:cs typeface="Arial MT"/>
                        </a:rPr>
                        <a:t>Integrated</a:t>
                      </a:r>
                      <a:r>
                        <a:rPr sz="7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NLP</a:t>
                      </a:r>
                      <a:r>
                        <a:rPr sz="7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Pipeline:</a:t>
                      </a:r>
                      <a:r>
                        <a:rPr sz="7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From</a:t>
                      </a:r>
                      <a:r>
                        <a:rPr sz="700" spc="-10" dirty="0">
                          <a:latin typeface="Arial MT"/>
                          <a:cs typeface="Arial MT"/>
                        </a:rPr>
                        <a:t> Regular 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Expressions</a:t>
                      </a:r>
                      <a:r>
                        <a:rPr sz="7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to</a:t>
                      </a:r>
                      <a:r>
                        <a:rPr sz="7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Morphological</a:t>
                      </a:r>
                      <a:r>
                        <a:rPr sz="700" spc="-10" dirty="0">
                          <a:latin typeface="Arial MT"/>
                          <a:cs typeface="Arial MT"/>
                        </a:rPr>
                        <a:t> Processing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T="34636" marB="0">
                    <a:lnL w="6350">
                      <a:solidFill>
                        <a:srgbClr val="9DC3E6"/>
                      </a:solidFill>
                      <a:prstDash val="solid"/>
                    </a:lnL>
                    <a:lnR w="6350">
                      <a:solidFill>
                        <a:srgbClr val="9DC3E6"/>
                      </a:solidFill>
                      <a:prstDash val="solid"/>
                    </a:lnR>
                    <a:lnT w="6350">
                      <a:solidFill>
                        <a:srgbClr val="9DC3E6"/>
                      </a:solidFill>
                      <a:prstDash val="solid"/>
                    </a:lnT>
                    <a:lnB w="6350">
                      <a:solidFill>
                        <a:srgbClr val="9DC3E6"/>
                      </a:solidFill>
                      <a:prstDash val="solid"/>
                    </a:lnB>
                    <a:solidFill>
                      <a:srgbClr val="D5E3EF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700" spc="-10" dirty="0">
                          <a:latin typeface="Arial MT"/>
                          <a:cs typeface="Arial MT"/>
                        </a:rPr>
                        <a:t>End-to-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End</a:t>
                      </a:r>
                      <a:r>
                        <a:rPr sz="7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Language</a:t>
                      </a:r>
                      <a:r>
                        <a:rPr sz="7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Processing</a:t>
                      </a:r>
                      <a:r>
                        <a:rPr sz="7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spc="-10" dirty="0">
                          <a:latin typeface="Arial MT"/>
                          <a:cs typeface="Arial MT"/>
                        </a:rPr>
                        <a:t>Pipeline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T="27709" marB="0">
                    <a:lnL w="6350">
                      <a:solidFill>
                        <a:srgbClr val="9DC3E6"/>
                      </a:solidFill>
                      <a:prstDash val="solid"/>
                    </a:lnL>
                    <a:lnR w="6350">
                      <a:solidFill>
                        <a:srgbClr val="9DC3E6"/>
                      </a:solidFill>
                      <a:prstDash val="solid"/>
                    </a:lnR>
                    <a:lnT w="6350">
                      <a:solidFill>
                        <a:srgbClr val="9DC3E6"/>
                      </a:solidFill>
                      <a:prstDash val="solid"/>
                    </a:lnT>
                    <a:lnB w="6350">
                      <a:solidFill>
                        <a:srgbClr val="9DC3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700" dirty="0">
                          <a:latin typeface="Arial MT"/>
                          <a:cs typeface="Arial MT"/>
                        </a:rPr>
                        <a:t>TP-</a:t>
                      </a:r>
                      <a:r>
                        <a:rPr sz="700" spc="-25" dirty="0">
                          <a:latin typeface="Arial MT"/>
                          <a:cs typeface="Arial MT"/>
                        </a:rPr>
                        <a:t>15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T="27709" marB="0">
                    <a:lnL w="6350">
                      <a:solidFill>
                        <a:srgbClr val="9DC3E6"/>
                      </a:solidFill>
                      <a:prstDash val="solid"/>
                    </a:lnL>
                    <a:lnR w="6350">
                      <a:solidFill>
                        <a:srgbClr val="9DC3E6"/>
                      </a:solidFill>
                      <a:prstDash val="solid"/>
                    </a:lnR>
                    <a:lnT w="6350">
                      <a:solidFill>
                        <a:srgbClr val="9DC3E6"/>
                      </a:solidFill>
                      <a:prstDash val="solid"/>
                    </a:lnT>
                    <a:lnB w="6350">
                      <a:solidFill>
                        <a:srgbClr val="9DC3E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905458" y="303241"/>
            <a:ext cx="1700645" cy="124160"/>
          </a:xfrm>
          <a:prstGeom prst="rect">
            <a:avLst/>
          </a:prstGeom>
        </p:spPr>
        <p:txBody>
          <a:bodyPr vert="horz" wrap="square" lIns="0" tIns="8659" rIns="0" bIns="0" rtlCol="0">
            <a:spAutoFit/>
          </a:bodyPr>
          <a:lstStyle/>
          <a:p>
            <a:pPr marL="8659">
              <a:spcBef>
                <a:spcPts val="68"/>
              </a:spcBef>
            </a:pPr>
            <a:r>
              <a:rPr sz="750" b="1" dirty="0">
                <a:solidFill>
                  <a:srgbClr val="C00000"/>
                </a:solidFill>
                <a:latin typeface="Arial"/>
                <a:cs typeface="Arial"/>
              </a:rPr>
              <a:t>Annexure</a:t>
            </a:r>
            <a:r>
              <a:rPr sz="750" b="1" spc="-1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750" b="1" dirty="0">
                <a:solidFill>
                  <a:srgbClr val="C00000"/>
                </a:solidFill>
                <a:latin typeface="Arial"/>
                <a:cs typeface="Arial"/>
              </a:rPr>
              <a:t>A</a:t>
            </a:r>
            <a:r>
              <a:rPr sz="750" b="1" spc="-41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750" b="1" dirty="0">
                <a:solidFill>
                  <a:srgbClr val="C00000"/>
                </a:solidFill>
                <a:latin typeface="Arial"/>
                <a:cs typeface="Arial"/>
              </a:rPr>
              <a:t>–</a:t>
            </a:r>
            <a:r>
              <a:rPr sz="750" b="1" spc="-3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750" b="1" dirty="0">
                <a:solidFill>
                  <a:srgbClr val="C00000"/>
                </a:solidFill>
                <a:latin typeface="Arial"/>
                <a:cs typeface="Arial"/>
              </a:rPr>
              <a:t>Technical</a:t>
            </a:r>
            <a:r>
              <a:rPr sz="750" b="1" spc="-24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750" b="1" spc="-7" dirty="0">
                <a:solidFill>
                  <a:srgbClr val="C00000"/>
                </a:solidFill>
                <a:latin typeface="Arial"/>
                <a:cs typeface="Arial"/>
              </a:rPr>
              <a:t>Presentation</a:t>
            </a:r>
            <a:endParaRPr sz="75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901647" y="438669"/>
            <a:ext cx="4391025" cy="4330"/>
          </a:xfrm>
          <a:custGeom>
            <a:avLst/>
            <a:gdLst/>
            <a:ahLst/>
            <a:cxnLst/>
            <a:rect l="l" t="t" r="r" b="b"/>
            <a:pathLst>
              <a:path w="6440170" h="6350">
                <a:moveTo>
                  <a:pt x="6439789" y="0"/>
                </a:moveTo>
                <a:lnTo>
                  <a:pt x="0" y="0"/>
                </a:lnTo>
                <a:lnTo>
                  <a:pt x="0" y="6096"/>
                </a:lnTo>
                <a:lnTo>
                  <a:pt x="6439789" y="6096"/>
                </a:lnTo>
                <a:lnTo>
                  <a:pt x="6439789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 sz="1227"/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3922429" y="468803"/>
          <a:ext cx="4346430" cy="651415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04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824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35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1631">
                <a:tc>
                  <a:txBody>
                    <a:bodyPr/>
                    <a:lstStyle/>
                    <a:p>
                      <a:pPr marL="127635" marR="54610" indent="-64135">
                        <a:lnSpc>
                          <a:spcPts val="1150"/>
                        </a:lnSpc>
                        <a:spcBef>
                          <a:spcPts val="195"/>
                        </a:spcBef>
                      </a:pPr>
                      <a:r>
                        <a:rPr sz="700" b="1" spc="-20" dirty="0">
                          <a:latin typeface="Times New Roman"/>
                          <a:cs typeface="Times New Roman"/>
                        </a:rPr>
                        <a:t>Team </a:t>
                      </a:r>
                      <a:r>
                        <a:rPr sz="700" b="1" spc="-25" dirty="0">
                          <a:latin typeface="Times New Roman"/>
                          <a:cs typeface="Times New Roman"/>
                        </a:rPr>
                        <a:t>No.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1688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21310">
                        <a:lnSpc>
                          <a:spcPct val="100000"/>
                        </a:lnSpc>
                        <a:spcBef>
                          <a:spcPts val="690"/>
                        </a:spcBef>
                      </a:pPr>
                      <a:r>
                        <a:rPr sz="700" b="1" dirty="0">
                          <a:latin typeface="Times New Roman"/>
                          <a:cs typeface="Times New Roman"/>
                        </a:rPr>
                        <a:t>Technical </a:t>
                      </a:r>
                      <a:r>
                        <a:rPr sz="700" b="1" spc="-10" dirty="0">
                          <a:latin typeface="Times New Roman"/>
                          <a:cs typeface="Times New Roman"/>
                        </a:rPr>
                        <a:t>Presentation</a:t>
                      </a:r>
                      <a:r>
                        <a:rPr sz="700" b="1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b="1" spc="-20" dirty="0">
                          <a:latin typeface="Times New Roman"/>
                          <a:cs typeface="Times New Roman"/>
                        </a:rPr>
                        <a:t>Title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59748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0"/>
                        </a:spcBef>
                      </a:pPr>
                      <a:r>
                        <a:rPr sz="700" b="1" spc="-10" dirty="0">
                          <a:latin typeface="Times New Roman"/>
                          <a:cs typeface="Times New Roman"/>
                        </a:rPr>
                        <a:t>Description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59748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424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24130">
                        <a:lnSpc>
                          <a:spcPct val="100000"/>
                        </a:lnSpc>
                      </a:pPr>
                      <a:r>
                        <a:rPr sz="7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9092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 marR="37465">
                        <a:lnSpc>
                          <a:spcPct val="95000"/>
                        </a:lnSpc>
                        <a:spcBef>
                          <a:spcPts val="185"/>
                        </a:spcBef>
                      </a:pPr>
                      <a:r>
                        <a:rPr sz="700" dirty="0">
                          <a:latin typeface="Times New Roman"/>
                          <a:cs typeface="Times New Roman"/>
                        </a:rPr>
                        <a:t>Evolution</a:t>
                      </a:r>
                      <a:r>
                        <a:rPr sz="7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7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Natural</a:t>
                      </a:r>
                      <a:r>
                        <a:rPr sz="7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Language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Processing:</a:t>
                      </a:r>
                      <a:r>
                        <a:rPr sz="7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From</a:t>
                      </a:r>
                      <a:r>
                        <a:rPr sz="7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Rule-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Based</a:t>
                      </a:r>
                      <a:r>
                        <a:rPr sz="7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Systems</a:t>
                      </a:r>
                      <a:r>
                        <a:rPr sz="700" spc="-25" dirty="0">
                          <a:latin typeface="Times New Roman"/>
                          <a:cs typeface="Times New Roman"/>
                        </a:rPr>
                        <a:t> to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Modern</a:t>
                      </a:r>
                      <a:r>
                        <a:rPr sz="7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spc="-25" dirty="0">
                          <a:latin typeface="Times New Roman"/>
                          <a:cs typeface="Times New Roman"/>
                        </a:rPr>
                        <a:t>NLP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16019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 marR="47625">
                        <a:lnSpc>
                          <a:spcPct val="95000"/>
                        </a:lnSpc>
                        <a:spcBef>
                          <a:spcPts val="185"/>
                        </a:spcBef>
                      </a:pPr>
                      <a:r>
                        <a:rPr sz="700" dirty="0">
                          <a:latin typeface="Times New Roman"/>
                          <a:cs typeface="Times New Roman"/>
                        </a:rPr>
                        <a:t>Analyze</a:t>
                      </a:r>
                      <a:r>
                        <a:rPr sz="7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7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historical</a:t>
                      </a:r>
                      <a:r>
                        <a:rPr sz="7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development</a:t>
                      </a:r>
                      <a:r>
                        <a:rPr sz="7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7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NLP</a:t>
                      </a:r>
                      <a:r>
                        <a:rPr sz="7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models,</a:t>
                      </a:r>
                      <a:r>
                        <a:rPr sz="7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key</a:t>
                      </a:r>
                      <a:r>
                        <a:rPr sz="7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milestones,</a:t>
                      </a:r>
                      <a:r>
                        <a:rPr sz="7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spc="-25" dirty="0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how</a:t>
                      </a:r>
                      <a:r>
                        <a:rPr sz="7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language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 processing</a:t>
                      </a:r>
                      <a:r>
                        <a:rPr sz="7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has</a:t>
                      </a:r>
                      <a:r>
                        <a:rPr sz="7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evolved</a:t>
                      </a:r>
                      <a:r>
                        <a:rPr sz="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from</a:t>
                      </a:r>
                      <a:r>
                        <a:rPr sz="7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handcrafted</a:t>
                      </a:r>
                      <a:r>
                        <a:rPr sz="7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rules </a:t>
                      </a:r>
                      <a:r>
                        <a:rPr sz="700" spc="-25" dirty="0">
                          <a:latin typeface="Times New Roman"/>
                          <a:cs typeface="Times New Roman"/>
                        </a:rPr>
                        <a:t>to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intelligent</a:t>
                      </a:r>
                      <a:r>
                        <a:rPr sz="7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systems.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16019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250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2413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700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9092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 marR="115570">
                        <a:lnSpc>
                          <a:spcPts val="1150"/>
                        </a:lnSpc>
                        <a:spcBef>
                          <a:spcPts val="760"/>
                        </a:spcBef>
                      </a:pPr>
                      <a:r>
                        <a:rPr sz="700" dirty="0">
                          <a:latin typeface="Times New Roman"/>
                          <a:cs typeface="Times New Roman"/>
                        </a:rPr>
                        <a:t>Comparative</a:t>
                      </a:r>
                      <a:r>
                        <a:rPr sz="7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Study</a:t>
                      </a:r>
                      <a:r>
                        <a:rPr sz="7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7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NLP</a:t>
                      </a:r>
                      <a:r>
                        <a:rPr sz="7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Models </a:t>
                      </a:r>
                      <a:r>
                        <a:rPr sz="700" spc="-25" dirty="0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Algorithms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65809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 marR="462280">
                        <a:lnSpc>
                          <a:spcPts val="1150"/>
                        </a:lnSpc>
                        <a:spcBef>
                          <a:spcPts val="185"/>
                        </a:spcBef>
                      </a:pPr>
                      <a:r>
                        <a:rPr sz="700" dirty="0">
                          <a:latin typeface="Times New Roman"/>
                          <a:cs typeface="Times New Roman"/>
                        </a:rPr>
                        <a:t>Explore</a:t>
                      </a:r>
                      <a:r>
                        <a:rPr sz="7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different</a:t>
                      </a:r>
                      <a:r>
                        <a:rPr sz="7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NLP</a:t>
                      </a:r>
                      <a:r>
                        <a:rPr sz="7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models</a:t>
                      </a:r>
                      <a:r>
                        <a:rPr sz="7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7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algorithms</a:t>
                      </a:r>
                      <a:r>
                        <a:rPr sz="7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used</a:t>
                      </a:r>
                      <a:r>
                        <a:rPr sz="7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for 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language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processing,</a:t>
                      </a:r>
                      <a:r>
                        <a:rPr sz="7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comparing</a:t>
                      </a:r>
                      <a:r>
                        <a:rPr sz="7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their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working</a:t>
                      </a:r>
                      <a:r>
                        <a:rPr sz="7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principles,</a:t>
                      </a:r>
                      <a:r>
                        <a:rPr sz="7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strengths,</a:t>
                      </a:r>
                      <a:r>
                        <a:rPr sz="7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spc="-25" dirty="0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limitations.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16019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424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24130">
                        <a:lnSpc>
                          <a:spcPct val="100000"/>
                        </a:lnSpc>
                      </a:pPr>
                      <a:r>
                        <a:rPr sz="700" spc="-50" dirty="0">
                          <a:latin typeface="Times New Roman"/>
                          <a:cs typeface="Times New Roman"/>
                        </a:rPr>
                        <a:t>3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9092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 marR="277495">
                        <a:lnSpc>
                          <a:spcPts val="1150"/>
                        </a:lnSpc>
                        <a:spcBef>
                          <a:spcPts val="760"/>
                        </a:spcBef>
                      </a:pPr>
                      <a:r>
                        <a:rPr sz="700" dirty="0">
                          <a:latin typeface="Times New Roman"/>
                          <a:cs typeface="Times New Roman"/>
                        </a:rPr>
                        <a:t>Regular</a:t>
                      </a:r>
                      <a:r>
                        <a:rPr sz="7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Expressions</a:t>
                      </a:r>
                      <a:r>
                        <a:rPr sz="7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 Real-</a:t>
                      </a:r>
                      <a:r>
                        <a:rPr sz="700" spc="-20" dirty="0">
                          <a:latin typeface="Times New Roman"/>
                          <a:cs typeface="Times New Roman"/>
                        </a:rPr>
                        <a:t>World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Text</a:t>
                      </a:r>
                      <a:r>
                        <a:rPr sz="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Processing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65809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 marR="140335">
                        <a:lnSpc>
                          <a:spcPts val="1150"/>
                        </a:lnSpc>
                        <a:spcBef>
                          <a:spcPts val="185"/>
                        </a:spcBef>
                      </a:pPr>
                      <a:r>
                        <a:rPr sz="700" spc="-10" dirty="0">
                          <a:latin typeface="Times New Roman"/>
                          <a:cs typeface="Times New Roman"/>
                        </a:rPr>
                        <a:t>Demonstrate</a:t>
                      </a:r>
                      <a:r>
                        <a:rPr sz="7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how</a:t>
                      </a:r>
                      <a:r>
                        <a:rPr sz="7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regular 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expressions</a:t>
                      </a:r>
                      <a:r>
                        <a:rPr sz="7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are</a:t>
                      </a:r>
                      <a:r>
                        <a:rPr sz="7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used for</a:t>
                      </a:r>
                      <a:r>
                        <a:rPr sz="70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data</a:t>
                      </a:r>
                      <a:r>
                        <a:rPr sz="7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validation,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spc="-20" dirty="0">
                          <a:latin typeface="Times New Roman"/>
                          <a:cs typeface="Times New Roman"/>
                        </a:rPr>
                        <a:t>text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extraction,</a:t>
                      </a:r>
                      <a:r>
                        <a:rPr sz="7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log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 analysis,</a:t>
                      </a:r>
                      <a:r>
                        <a:rPr sz="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7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information</a:t>
                      </a:r>
                      <a:r>
                        <a:rPr sz="7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retrieval in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 practical applications.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16019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250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24130">
                        <a:lnSpc>
                          <a:spcPct val="100000"/>
                        </a:lnSpc>
                      </a:pPr>
                      <a:r>
                        <a:rPr sz="700" spc="-50" dirty="0">
                          <a:latin typeface="Times New Roman"/>
                          <a:cs typeface="Times New Roman"/>
                        </a:rPr>
                        <a:t>4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9092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 marR="114300">
                        <a:lnSpc>
                          <a:spcPts val="1150"/>
                        </a:lnSpc>
                        <a:spcBef>
                          <a:spcPts val="760"/>
                        </a:spcBef>
                      </a:pPr>
                      <a:r>
                        <a:rPr sz="700" dirty="0">
                          <a:latin typeface="Times New Roman"/>
                          <a:cs typeface="Times New Roman"/>
                        </a:rPr>
                        <a:t>Designing</a:t>
                      </a:r>
                      <a:r>
                        <a:rPr sz="7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Efficient</a:t>
                      </a:r>
                      <a:r>
                        <a:rPr sz="7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Regular</a:t>
                      </a:r>
                      <a:r>
                        <a:rPr sz="7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Expression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Patterns</a:t>
                      </a:r>
                      <a:r>
                        <a:rPr sz="7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for 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Information</a:t>
                      </a:r>
                      <a:r>
                        <a:rPr sz="7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Extraction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65809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 marR="267970">
                        <a:lnSpc>
                          <a:spcPts val="1150"/>
                        </a:lnSpc>
                        <a:spcBef>
                          <a:spcPts val="185"/>
                        </a:spcBef>
                      </a:pPr>
                      <a:r>
                        <a:rPr sz="700" dirty="0">
                          <a:latin typeface="Times New Roman"/>
                          <a:cs typeface="Times New Roman"/>
                        </a:rPr>
                        <a:t>Analyze</a:t>
                      </a:r>
                      <a:r>
                        <a:rPr sz="7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complex</a:t>
                      </a:r>
                      <a:r>
                        <a:rPr sz="7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regular</a:t>
                      </a:r>
                      <a:r>
                        <a:rPr sz="7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expression patterns</a:t>
                      </a:r>
                      <a:r>
                        <a:rPr sz="7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used</a:t>
                      </a:r>
                      <a:r>
                        <a:rPr sz="7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7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extract</a:t>
                      </a:r>
                      <a:r>
                        <a:rPr sz="7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emails,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phone</a:t>
                      </a:r>
                      <a:r>
                        <a:rPr sz="7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numbers,</a:t>
                      </a:r>
                      <a:r>
                        <a:rPr sz="7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URLs,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dates,</a:t>
                      </a:r>
                      <a:r>
                        <a:rPr sz="7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7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structured</a:t>
                      </a:r>
                      <a:r>
                        <a:rPr sz="7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information</a:t>
                      </a:r>
                      <a:r>
                        <a:rPr sz="700" spc="-20" dirty="0">
                          <a:latin typeface="Times New Roman"/>
                          <a:cs typeface="Times New Roman"/>
                        </a:rPr>
                        <a:t> from 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unstructured</a:t>
                      </a:r>
                      <a:r>
                        <a:rPr sz="700" spc="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text.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16019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2497">
                <a:tc>
                  <a:txBody>
                    <a:bodyPr/>
                    <a:lstStyle/>
                    <a:p>
                      <a:pPr marL="24130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sz="700" spc="-50" dirty="0">
                          <a:latin typeface="Times New Roman"/>
                          <a:cs typeface="Times New Roman"/>
                        </a:rPr>
                        <a:t>5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58882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 marR="481965">
                        <a:lnSpc>
                          <a:spcPts val="1150"/>
                        </a:lnSpc>
                        <a:spcBef>
                          <a:spcPts val="180"/>
                        </a:spcBef>
                      </a:pPr>
                      <a:r>
                        <a:rPr sz="700" dirty="0">
                          <a:latin typeface="Times New Roman"/>
                          <a:cs typeface="Times New Roman"/>
                        </a:rPr>
                        <a:t>Finite</a:t>
                      </a:r>
                      <a:r>
                        <a:rPr sz="7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State</a:t>
                      </a:r>
                      <a:r>
                        <a:rPr sz="7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Automata</a:t>
                      </a:r>
                      <a:r>
                        <a:rPr sz="7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 Natural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Language</a:t>
                      </a:r>
                      <a:r>
                        <a:rPr sz="7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Processing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15586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 marR="260985">
                        <a:lnSpc>
                          <a:spcPts val="1150"/>
                        </a:lnSpc>
                        <a:spcBef>
                          <a:spcPts val="180"/>
                        </a:spcBef>
                      </a:pPr>
                      <a:r>
                        <a:rPr sz="700" dirty="0">
                          <a:latin typeface="Times New Roman"/>
                          <a:cs typeface="Times New Roman"/>
                        </a:rPr>
                        <a:t>Explain</a:t>
                      </a:r>
                      <a:r>
                        <a:rPr sz="7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7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concepts</a:t>
                      </a:r>
                      <a:r>
                        <a:rPr sz="7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7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deterministic</a:t>
                      </a:r>
                      <a:r>
                        <a:rPr sz="7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7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non-deterministic</a:t>
                      </a:r>
                      <a:r>
                        <a:rPr sz="7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finite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automata</a:t>
                      </a:r>
                      <a:r>
                        <a:rPr sz="7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7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their</a:t>
                      </a:r>
                      <a:r>
                        <a:rPr sz="7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role</a:t>
                      </a:r>
                      <a:r>
                        <a:rPr sz="7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lexical</a:t>
                      </a:r>
                      <a:r>
                        <a:rPr sz="7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analysis</a:t>
                      </a:r>
                      <a:r>
                        <a:rPr sz="7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7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language</a:t>
                      </a:r>
                      <a:r>
                        <a:rPr sz="7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recognition.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15586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4661">
                <a:tc>
                  <a:txBody>
                    <a:bodyPr/>
                    <a:lstStyle/>
                    <a:p>
                      <a:pPr marL="24130">
                        <a:lnSpc>
                          <a:spcPct val="100000"/>
                        </a:lnSpc>
                        <a:spcBef>
                          <a:spcPts val="705"/>
                        </a:spcBef>
                      </a:pPr>
                      <a:r>
                        <a:rPr sz="700" spc="-50" dirty="0">
                          <a:latin typeface="Times New Roman"/>
                          <a:cs typeface="Times New Roman"/>
                        </a:rPr>
                        <a:t>6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61047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 marR="215900">
                        <a:lnSpc>
                          <a:spcPts val="1150"/>
                        </a:lnSpc>
                        <a:spcBef>
                          <a:spcPts val="204"/>
                        </a:spcBef>
                      </a:pPr>
                      <a:r>
                        <a:rPr sz="700" dirty="0">
                          <a:latin typeface="Times New Roman"/>
                          <a:cs typeface="Times New Roman"/>
                        </a:rPr>
                        <a:t>Building</a:t>
                      </a:r>
                      <a:r>
                        <a:rPr sz="7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7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Finite</a:t>
                      </a:r>
                      <a:r>
                        <a:rPr sz="7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State</a:t>
                      </a:r>
                      <a:r>
                        <a:rPr sz="7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Automaton</a:t>
                      </a:r>
                      <a:r>
                        <a:rPr sz="7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spc="-25" dirty="0">
                          <a:latin typeface="Times New Roman"/>
                          <a:cs typeface="Times New Roman"/>
                        </a:rPr>
                        <a:t>for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Token</a:t>
                      </a:r>
                      <a:r>
                        <a:rPr sz="7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Recognition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177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 marR="118745">
                        <a:lnSpc>
                          <a:spcPts val="1150"/>
                        </a:lnSpc>
                        <a:spcBef>
                          <a:spcPts val="204"/>
                        </a:spcBef>
                      </a:pPr>
                      <a:r>
                        <a:rPr sz="700" dirty="0">
                          <a:latin typeface="Times New Roman"/>
                          <a:cs typeface="Times New Roman"/>
                        </a:rPr>
                        <a:t>Design</a:t>
                      </a:r>
                      <a:r>
                        <a:rPr sz="7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7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demonstrate</a:t>
                      </a:r>
                      <a:r>
                        <a:rPr sz="7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7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finite</a:t>
                      </a:r>
                      <a:r>
                        <a:rPr sz="7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state</a:t>
                      </a:r>
                      <a:r>
                        <a:rPr sz="7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automaton that</a:t>
                      </a:r>
                      <a:r>
                        <a:rPr sz="7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recognizes tokens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such</a:t>
                      </a:r>
                      <a:r>
                        <a:rPr sz="7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as</a:t>
                      </a:r>
                      <a:r>
                        <a:rPr sz="7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identifiers,</a:t>
                      </a:r>
                      <a:r>
                        <a:rPr sz="7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keywords,</a:t>
                      </a:r>
                      <a:r>
                        <a:rPr sz="7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7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numbers</a:t>
                      </a:r>
                      <a:r>
                        <a:rPr sz="7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sz="7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textual</a:t>
                      </a:r>
                      <a:r>
                        <a:rPr sz="7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spc="-20" dirty="0">
                          <a:latin typeface="Times New Roman"/>
                          <a:cs typeface="Times New Roman"/>
                        </a:rPr>
                        <a:t>data.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177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2497">
                <a:tc>
                  <a:txBody>
                    <a:bodyPr/>
                    <a:lstStyle/>
                    <a:p>
                      <a:pPr marL="24130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sz="700" spc="-50" dirty="0">
                          <a:latin typeface="Times New Roman"/>
                          <a:cs typeface="Times New Roman"/>
                        </a:rPr>
                        <a:t>7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58882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 marR="280035">
                        <a:lnSpc>
                          <a:spcPts val="1150"/>
                        </a:lnSpc>
                        <a:spcBef>
                          <a:spcPts val="185"/>
                        </a:spcBef>
                      </a:pPr>
                      <a:r>
                        <a:rPr sz="700" spc="-10" dirty="0">
                          <a:latin typeface="Times New Roman"/>
                          <a:cs typeface="Times New Roman"/>
                        </a:rPr>
                        <a:t>Morphology</a:t>
                      </a:r>
                      <a:r>
                        <a:rPr sz="7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7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Word</a:t>
                      </a:r>
                      <a:r>
                        <a:rPr sz="700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Formation</a:t>
                      </a:r>
                      <a:r>
                        <a:rPr sz="700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spc="-25" dirty="0">
                          <a:latin typeface="Times New Roman"/>
                          <a:cs typeface="Times New Roman"/>
                        </a:rPr>
                        <a:t>in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Natural</a:t>
                      </a:r>
                      <a:r>
                        <a:rPr sz="7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Languages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16019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 marR="58419">
                        <a:lnSpc>
                          <a:spcPts val="1150"/>
                        </a:lnSpc>
                        <a:spcBef>
                          <a:spcPts val="185"/>
                        </a:spcBef>
                      </a:pPr>
                      <a:r>
                        <a:rPr sz="700" spc="-10" dirty="0">
                          <a:latin typeface="Times New Roman"/>
                          <a:cs typeface="Times New Roman"/>
                        </a:rPr>
                        <a:t>Investigate</a:t>
                      </a:r>
                      <a:r>
                        <a:rPr sz="7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how</a:t>
                      </a:r>
                      <a:r>
                        <a:rPr sz="7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words</a:t>
                      </a:r>
                      <a:r>
                        <a:rPr sz="7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are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 structured</a:t>
                      </a:r>
                      <a:r>
                        <a:rPr sz="7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7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formed using</a:t>
                      </a:r>
                      <a:r>
                        <a:rPr sz="7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morphemes,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spc="-25" dirty="0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analyze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7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importance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7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morphology</a:t>
                      </a:r>
                      <a:r>
                        <a:rPr sz="7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sz="700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NLP</a:t>
                      </a:r>
                      <a:r>
                        <a:rPr sz="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systems.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16019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4661">
                <a:tc>
                  <a:txBody>
                    <a:bodyPr/>
                    <a:lstStyle/>
                    <a:p>
                      <a:pPr marL="24130"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r>
                        <a:rPr sz="700" spc="-50" dirty="0">
                          <a:latin typeface="Times New Roman"/>
                          <a:cs typeface="Times New Roman"/>
                        </a:rPr>
                        <a:t>8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6061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 marR="73660">
                        <a:lnSpc>
                          <a:spcPts val="1150"/>
                        </a:lnSpc>
                        <a:spcBef>
                          <a:spcPts val="204"/>
                        </a:spcBef>
                      </a:pPr>
                      <a:r>
                        <a:rPr sz="700" dirty="0">
                          <a:latin typeface="Times New Roman"/>
                          <a:cs typeface="Times New Roman"/>
                        </a:rPr>
                        <a:t>Inflectional</a:t>
                      </a:r>
                      <a:r>
                        <a:rPr sz="7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Morphology:</a:t>
                      </a:r>
                      <a:r>
                        <a:rPr sz="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Understanding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Grammatical</a:t>
                      </a:r>
                      <a:r>
                        <a:rPr sz="7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Variations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177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 marR="231140">
                        <a:lnSpc>
                          <a:spcPts val="1150"/>
                        </a:lnSpc>
                        <a:spcBef>
                          <a:spcPts val="204"/>
                        </a:spcBef>
                      </a:pPr>
                      <a:r>
                        <a:rPr sz="700" dirty="0">
                          <a:latin typeface="Times New Roman"/>
                          <a:cs typeface="Times New Roman"/>
                        </a:rPr>
                        <a:t>Examine</a:t>
                      </a:r>
                      <a:r>
                        <a:rPr sz="7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how</a:t>
                      </a:r>
                      <a:r>
                        <a:rPr sz="7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inflectional</a:t>
                      </a:r>
                      <a:r>
                        <a:rPr sz="7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changes</a:t>
                      </a:r>
                      <a:r>
                        <a:rPr sz="7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affect</a:t>
                      </a:r>
                      <a:r>
                        <a:rPr sz="7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word</a:t>
                      </a:r>
                      <a:r>
                        <a:rPr sz="7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forms</a:t>
                      </a:r>
                      <a:r>
                        <a:rPr sz="7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based</a:t>
                      </a:r>
                      <a:r>
                        <a:rPr sz="7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on</a:t>
                      </a:r>
                      <a:r>
                        <a:rPr sz="7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tense,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number,</a:t>
                      </a:r>
                      <a:r>
                        <a:rPr sz="7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gender,</a:t>
                      </a:r>
                      <a:r>
                        <a:rPr sz="7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7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case</a:t>
                      </a:r>
                      <a:r>
                        <a:rPr sz="7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across</a:t>
                      </a:r>
                      <a:r>
                        <a:rPr sz="7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different</a:t>
                      </a:r>
                      <a:r>
                        <a:rPr sz="7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languages.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177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2497">
                <a:tc>
                  <a:txBody>
                    <a:bodyPr/>
                    <a:lstStyle/>
                    <a:p>
                      <a:pPr marL="24130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sz="700" spc="-50" dirty="0">
                          <a:latin typeface="Times New Roman"/>
                          <a:cs typeface="Times New Roman"/>
                        </a:rPr>
                        <a:t>9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58882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 marR="621030">
                        <a:lnSpc>
                          <a:spcPts val="1150"/>
                        </a:lnSpc>
                        <a:spcBef>
                          <a:spcPts val="180"/>
                        </a:spcBef>
                      </a:pPr>
                      <a:r>
                        <a:rPr sz="700" dirty="0">
                          <a:latin typeface="Times New Roman"/>
                          <a:cs typeface="Times New Roman"/>
                        </a:rPr>
                        <a:t>Derivational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 Morphology</a:t>
                      </a:r>
                      <a:r>
                        <a:rPr sz="7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spc="-25" dirty="0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Vocabulary</a:t>
                      </a:r>
                      <a:r>
                        <a:rPr sz="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Expansion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15586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 marR="220979">
                        <a:lnSpc>
                          <a:spcPts val="1150"/>
                        </a:lnSpc>
                        <a:spcBef>
                          <a:spcPts val="180"/>
                        </a:spcBef>
                      </a:pPr>
                      <a:r>
                        <a:rPr sz="700" dirty="0">
                          <a:latin typeface="Times New Roman"/>
                          <a:cs typeface="Times New Roman"/>
                        </a:rPr>
                        <a:t>Analyze</a:t>
                      </a:r>
                      <a:r>
                        <a:rPr sz="7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derivational</a:t>
                      </a:r>
                      <a:r>
                        <a:rPr sz="7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processes</a:t>
                      </a:r>
                      <a:r>
                        <a:rPr sz="7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that</a:t>
                      </a:r>
                      <a:r>
                        <a:rPr sz="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create</a:t>
                      </a:r>
                      <a:r>
                        <a:rPr sz="7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new</a:t>
                      </a:r>
                      <a:r>
                        <a:rPr sz="7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words</a:t>
                      </a:r>
                      <a:r>
                        <a:rPr sz="7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7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study</a:t>
                      </a:r>
                      <a:r>
                        <a:rPr sz="7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their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impact</a:t>
                      </a:r>
                      <a:r>
                        <a:rPr sz="7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on</a:t>
                      </a:r>
                      <a:r>
                        <a:rPr sz="700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semantic interpretation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 and</a:t>
                      </a:r>
                      <a:r>
                        <a:rPr sz="7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language</a:t>
                      </a:r>
                      <a:r>
                        <a:rPr sz="7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understanding.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15586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4661">
                <a:tc>
                  <a:txBody>
                    <a:bodyPr/>
                    <a:lstStyle/>
                    <a:p>
                      <a:pPr marL="24130">
                        <a:lnSpc>
                          <a:spcPct val="100000"/>
                        </a:lnSpc>
                        <a:spcBef>
                          <a:spcPts val="705"/>
                        </a:spcBef>
                      </a:pPr>
                      <a:r>
                        <a:rPr sz="700" spc="-25" dirty="0">
                          <a:latin typeface="Times New Roman"/>
                          <a:cs typeface="Times New Roman"/>
                        </a:rPr>
                        <a:t>10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61047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 marR="34925">
                        <a:lnSpc>
                          <a:spcPts val="1150"/>
                        </a:lnSpc>
                        <a:spcBef>
                          <a:spcPts val="210"/>
                        </a:spcBef>
                      </a:pPr>
                      <a:r>
                        <a:rPr sz="700" dirty="0">
                          <a:latin typeface="Times New Roman"/>
                          <a:cs typeface="Times New Roman"/>
                        </a:rPr>
                        <a:t>Comparative</a:t>
                      </a:r>
                      <a:r>
                        <a:rPr sz="7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Analysis</a:t>
                      </a:r>
                      <a:r>
                        <a:rPr sz="7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7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Inflectional</a:t>
                      </a:r>
                      <a:r>
                        <a:rPr sz="7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spc="-25" dirty="0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Derivational</a:t>
                      </a:r>
                      <a:r>
                        <a:rPr sz="7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Morphology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1818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 marR="78740">
                        <a:lnSpc>
                          <a:spcPts val="1150"/>
                        </a:lnSpc>
                        <a:spcBef>
                          <a:spcPts val="210"/>
                        </a:spcBef>
                      </a:pPr>
                      <a:r>
                        <a:rPr sz="700" dirty="0">
                          <a:latin typeface="Times New Roman"/>
                          <a:cs typeface="Times New Roman"/>
                        </a:rPr>
                        <a:t>Compare</a:t>
                      </a:r>
                      <a:r>
                        <a:rPr sz="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7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characteristics,</a:t>
                      </a:r>
                      <a:r>
                        <a:rPr sz="70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applications,</a:t>
                      </a:r>
                      <a:r>
                        <a:rPr sz="70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7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challenges</a:t>
                      </a:r>
                      <a:r>
                        <a:rPr sz="70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7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inflectional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derivational morphology</a:t>
                      </a:r>
                      <a:r>
                        <a:rPr sz="7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sz="700" spc="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NLP</a:t>
                      </a:r>
                      <a:r>
                        <a:rPr sz="700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tasks.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1818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32497">
                <a:tc>
                  <a:txBody>
                    <a:bodyPr/>
                    <a:lstStyle/>
                    <a:p>
                      <a:pPr marL="24130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sz="700" spc="-25" dirty="0">
                          <a:latin typeface="Times New Roman"/>
                          <a:cs typeface="Times New Roman"/>
                        </a:rPr>
                        <a:t>11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58882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 marR="346075">
                        <a:lnSpc>
                          <a:spcPts val="1150"/>
                        </a:lnSpc>
                        <a:spcBef>
                          <a:spcPts val="180"/>
                        </a:spcBef>
                      </a:pPr>
                      <a:r>
                        <a:rPr sz="700" dirty="0">
                          <a:latin typeface="Times New Roman"/>
                          <a:cs typeface="Times New Roman"/>
                        </a:rPr>
                        <a:t>Finite-State</a:t>
                      </a:r>
                      <a:r>
                        <a:rPr sz="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Morphological</a:t>
                      </a:r>
                      <a:r>
                        <a:rPr sz="700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Parsing Techniques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15586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 marR="128905">
                        <a:lnSpc>
                          <a:spcPts val="1150"/>
                        </a:lnSpc>
                        <a:spcBef>
                          <a:spcPts val="180"/>
                        </a:spcBef>
                      </a:pPr>
                      <a:r>
                        <a:rPr sz="700" dirty="0">
                          <a:latin typeface="Times New Roman"/>
                          <a:cs typeface="Times New Roman"/>
                        </a:rPr>
                        <a:t>Explore</a:t>
                      </a:r>
                      <a:r>
                        <a:rPr sz="7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finite-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state</a:t>
                      </a:r>
                      <a:r>
                        <a:rPr sz="7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transducers</a:t>
                      </a:r>
                      <a:r>
                        <a:rPr sz="7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7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parsing</a:t>
                      </a:r>
                      <a:r>
                        <a:rPr sz="7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techniques</a:t>
                      </a:r>
                      <a:r>
                        <a:rPr sz="7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used</a:t>
                      </a:r>
                      <a:r>
                        <a:rPr sz="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7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analyze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7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generate</a:t>
                      </a:r>
                      <a:r>
                        <a:rPr sz="7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morphological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 structures</a:t>
                      </a:r>
                      <a:r>
                        <a:rPr sz="7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sz="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natural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 languages.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15586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467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24130">
                        <a:lnSpc>
                          <a:spcPct val="100000"/>
                        </a:lnSpc>
                      </a:pPr>
                      <a:r>
                        <a:rPr sz="700" spc="-25" dirty="0">
                          <a:latin typeface="Times New Roman"/>
                          <a:cs typeface="Times New Roman"/>
                        </a:rPr>
                        <a:t>12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11257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 marR="374650">
                        <a:lnSpc>
                          <a:spcPts val="1130"/>
                        </a:lnSpc>
                        <a:spcBef>
                          <a:spcPts val="800"/>
                        </a:spcBef>
                      </a:pPr>
                      <a:r>
                        <a:rPr sz="700" dirty="0">
                          <a:latin typeface="Times New Roman"/>
                          <a:cs typeface="Times New Roman"/>
                        </a:rPr>
                        <a:t>Morphological</a:t>
                      </a:r>
                      <a:r>
                        <a:rPr sz="7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Analysis</a:t>
                      </a:r>
                      <a:r>
                        <a:rPr sz="7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7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Indian Languages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69273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 marR="233679">
                        <a:lnSpc>
                          <a:spcPct val="95100"/>
                        </a:lnSpc>
                        <a:spcBef>
                          <a:spcPts val="185"/>
                        </a:spcBef>
                      </a:pPr>
                      <a:r>
                        <a:rPr sz="700" dirty="0">
                          <a:latin typeface="Times New Roman"/>
                          <a:cs typeface="Times New Roman"/>
                        </a:rPr>
                        <a:t>Study</a:t>
                      </a:r>
                      <a:r>
                        <a:rPr sz="7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7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challenges</a:t>
                      </a:r>
                      <a:r>
                        <a:rPr sz="7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and solutions</a:t>
                      </a:r>
                      <a:r>
                        <a:rPr sz="7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involved</a:t>
                      </a:r>
                      <a:r>
                        <a:rPr sz="7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in 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performing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morphological</a:t>
                      </a:r>
                      <a:r>
                        <a:rPr sz="7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processing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7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morphologically</a:t>
                      </a:r>
                      <a:r>
                        <a:rPr sz="7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rich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Indian</a:t>
                      </a:r>
                      <a:r>
                        <a:rPr sz="7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languages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such</a:t>
                      </a:r>
                      <a:r>
                        <a:rPr sz="7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as</a:t>
                      </a:r>
                      <a:r>
                        <a:rPr sz="7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Tamil,</a:t>
                      </a:r>
                      <a:r>
                        <a:rPr sz="7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Hindi,</a:t>
                      </a:r>
                      <a:r>
                        <a:rPr sz="7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7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Telugu.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16019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32497">
                <a:tc>
                  <a:txBody>
                    <a:bodyPr/>
                    <a:lstStyle/>
                    <a:p>
                      <a:pPr marL="24130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sz="700" spc="-25" dirty="0">
                          <a:latin typeface="Times New Roman"/>
                          <a:cs typeface="Times New Roman"/>
                        </a:rPr>
                        <a:t>13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58882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 marR="394970">
                        <a:lnSpc>
                          <a:spcPts val="1150"/>
                        </a:lnSpc>
                        <a:spcBef>
                          <a:spcPts val="180"/>
                        </a:spcBef>
                      </a:pPr>
                      <a:r>
                        <a:rPr sz="700" dirty="0">
                          <a:latin typeface="Times New Roman"/>
                          <a:cs typeface="Times New Roman"/>
                        </a:rPr>
                        <a:t>Porter</a:t>
                      </a:r>
                      <a:r>
                        <a:rPr sz="7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Stemmer:</a:t>
                      </a:r>
                      <a:r>
                        <a:rPr sz="7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Design,</a:t>
                      </a:r>
                      <a:r>
                        <a:rPr sz="7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Working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Mechanism,</a:t>
                      </a:r>
                      <a:r>
                        <a:rPr sz="7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7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Applications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15586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 marR="420370">
                        <a:lnSpc>
                          <a:spcPts val="1150"/>
                        </a:lnSpc>
                        <a:spcBef>
                          <a:spcPts val="180"/>
                        </a:spcBef>
                      </a:pPr>
                      <a:r>
                        <a:rPr sz="700" dirty="0">
                          <a:latin typeface="Times New Roman"/>
                          <a:cs typeface="Times New Roman"/>
                        </a:rPr>
                        <a:t>Analyze</a:t>
                      </a:r>
                      <a:r>
                        <a:rPr sz="7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7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Porter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Stemming</a:t>
                      </a:r>
                      <a:r>
                        <a:rPr sz="7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algorithm,</a:t>
                      </a:r>
                      <a:r>
                        <a:rPr sz="7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its</a:t>
                      </a:r>
                      <a:r>
                        <a:rPr sz="7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rule-based</a:t>
                      </a:r>
                      <a:r>
                        <a:rPr sz="7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approach,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implementation</a:t>
                      </a:r>
                      <a:r>
                        <a:rPr sz="7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steps,</a:t>
                      </a:r>
                      <a:r>
                        <a:rPr sz="7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7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role</a:t>
                      </a:r>
                      <a:r>
                        <a:rPr sz="7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sz="7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information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retrieval</a:t>
                      </a:r>
                      <a:r>
                        <a:rPr sz="7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systems.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15586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34661">
                <a:tc>
                  <a:txBody>
                    <a:bodyPr/>
                    <a:lstStyle/>
                    <a:p>
                      <a:pPr marL="24130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sz="700" spc="-25" dirty="0">
                          <a:latin typeface="Times New Roman"/>
                          <a:cs typeface="Times New Roman"/>
                        </a:rPr>
                        <a:t>14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58882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 marR="114300">
                        <a:lnSpc>
                          <a:spcPts val="1130"/>
                        </a:lnSpc>
                        <a:spcBef>
                          <a:spcPts val="220"/>
                        </a:spcBef>
                      </a:pPr>
                      <a:r>
                        <a:rPr sz="700" dirty="0">
                          <a:latin typeface="Times New Roman"/>
                          <a:cs typeface="Times New Roman"/>
                        </a:rPr>
                        <a:t>Stemming</a:t>
                      </a:r>
                      <a:r>
                        <a:rPr sz="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vs 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Morphological</a:t>
                      </a:r>
                      <a:r>
                        <a:rPr sz="7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Parsing: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spc="-5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 Comparative</a:t>
                      </a:r>
                      <a:r>
                        <a:rPr sz="7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Study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190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 marR="283845">
                        <a:lnSpc>
                          <a:spcPts val="1130"/>
                        </a:lnSpc>
                        <a:spcBef>
                          <a:spcPts val="220"/>
                        </a:spcBef>
                      </a:pPr>
                      <a:r>
                        <a:rPr sz="700" dirty="0">
                          <a:latin typeface="Times New Roman"/>
                          <a:cs typeface="Times New Roman"/>
                        </a:rPr>
                        <a:t>Compare</a:t>
                      </a:r>
                      <a:r>
                        <a:rPr sz="7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stemming</a:t>
                      </a:r>
                      <a:r>
                        <a:rPr sz="7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7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morphological</a:t>
                      </a:r>
                      <a:r>
                        <a:rPr sz="7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parsing</a:t>
                      </a:r>
                      <a:r>
                        <a:rPr sz="7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techniques</a:t>
                      </a:r>
                      <a:r>
                        <a:rPr sz="7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based</a:t>
                      </a:r>
                      <a:r>
                        <a:rPr sz="700" spc="-25" dirty="0">
                          <a:latin typeface="Times New Roman"/>
                          <a:cs typeface="Times New Roman"/>
                        </a:rPr>
                        <a:t> on 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accuracy,</a:t>
                      </a:r>
                      <a:r>
                        <a:rPr sz="7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computational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 complexity,</a:t>
                      </a:r>
                      <a:r>
                        <a:rPr sz="7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7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application 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scenarios.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190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3164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24130">
                        <a:lnSpc>
                          <a:spcPct val="100000"/>
                        </a:lnSpc>
                      </a:pPr>
                      <a:r>
                        <a:rPr sz="700" spc="-25" dirty="0">
                          <a:latin typeface="Times New Roman"/>
                          <a:cs typeface="Times New Roman"/>
                        </a:rPr>
                        <a:t>15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9092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 marR="26670">
                        <a:lnSpc>
                          <a:spcPts val="1160"/>
                        </a:lnSpc>
                        <a:spcBef>
                          <a:spcPts val="750"/>
                        </a:spcBef>
                      </a:pPr>
                      <a:r>
                        <a:rPr sz="700" dirty="0">
                          <a:latin typeface="Times New Roman"/>
                          <a:cs typeface="Times New Roman"/>
                        </a:rPr>
                        <a:t>Integrated</a:t>
                      </a:r>
                      <a:r>
                        <a:rPr sz="7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NLP</a:t>
                      </a:r>
                      <a:r>
                        <a:rPr sz="7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Pipeline:</a:t>
                      </a:r>
                      <a:r>
                        <a:rPr sz="7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From</a:t>
                      </a:r>
                      <a:r>
                        <a:rPr sz="7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Regular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Expressions</a:t>
                      </a:r>
                      <a:r>
                        <a:rPr sz="7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7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Morphological</a:t>
                      </a:r>
                      <a:r>
                        <a:rPr sz="7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Processing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64943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 marR="66675">
                        <a:lnSpc>
                          <a:spcPct val="96100"/>
                        </a:lnSpc>
                        <a:spcBef>
                          <a:spcPts val="150"/>
                        </a:spcBef>
                      </a:pPr>
                      <a:r>
                        <a:rPr sz="700" dirty="0">
                          <a:latin typeface="Times New Roman"/>
                          <a:cs typeface="Times New Roman"/>
                        </a:rPr>
                        <a:t>Demonstrate</a:t>
                      </a:r>
                      <a:r>
                        <a:rPr sz="7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7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complete</a:t>
                      </a:r>
                      <a:r>
                        <a:rPr sz="7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NLP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 preprocessing</a:t>
                      </a:r>
                      <a:r>
                        <a:rPr sz="7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pipeline</a:t>
                      </a:r>
                      <a:r>
                        <a:rPr sz="7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incorporating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regular</a:t>
                      </a:r>
                      <a:r>
                        <a:rPr sz="7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expressions,</a:t>
                      </a:r>
                      <a:r>
                        <a:rPr sz="7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finite</a:t>
                      </a:r>
                      <a:r>
                        <a:rPr sz="7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state</a:t>
                      </a:r>
                      <a:r>
                        <a:rPr sz="7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automata,</a:t>
                      </a:r>
                      <a:r>
                        <a:rPr sz="7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stemming,</a:t>
                      </a:r>
                      <a:r>
                        <a:rPr sz="7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7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morphological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analysis</a:t>
                      </a:r>
                      <a:r>
                        <a:rPr sz="7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7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text</a:t>
                      </a:r>
                      <a:r>
                        <a:rPr sz="7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processing.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12989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905458" y="167987"/>
            <a:ext cx="1062470" cy="124160"/>
          </a:xfrm>
          <a:prstGeom prst="rect">
            <a:avLst/>
          </a:prstGeom>
        </p:spPr>
        <p:txBody>
          <a:bodyPr vert="horz" wrap="square" lIns="0" tIns="8659" rIns="0" bIns="0" rtlCol="0">
            <a:spAutoFit/>
          </a:bodyPr>
          <a:lstStyle/>
          <a:p>
            <a:pPr marL="8659">
              <a:spcBef>
                <a:spcPts val="68"/>
              </a:spcBef>
            </a:pPr>
            <a:r>
              <a:rPr sz="750" b="1" dirty="0">
                <a:solidFill>
                  <a:srgbClr val="1F4E79"/>
                </a:solidFill>
                <a:latin typeface="Arial"/>
                <a:cs typeface="Arial"/>
              </a:rPr>
              <a:t>Rubrics</a:t>
            </a:r>
            <a:r>
              <a:rPr sz="750" b="1" spc="-27" dirty="0">
                <a:solidFill>
                  <a:srgbClr val="1F4E79"/>
                </a:solidFill>
                <a:latin typeface="Arial"/>
                <a:cs typeface="Arial"/>
              </a:rPr>
              <a:t> </a:t>
            </a:r>
            <a:r>
              <a:rPr sz="750" b="1" dirty="0">
                <a:solidFill>
                  <a:srgbClr val="1F4E79"/>
                </a:solidFill>
                <a:latin typeface="Arial"/>
                <a:cs typeface="Arial"/>
              </a:rPr>
              <a:t>for</a:t>
            </a:r>
            <a:r>
              <a:rPr sz="750" b="1" spc="-17" dirty="0">
                <a:solidFill>
                  <a:srgbClr val="1F4E79"/>
                </a:solidFill>
                <a:latin typeface="Arial"/>
                <a:cs typeface="Arial"/>
              </a:rPr>
              <a:t> </a:t>
            </a:r>
            <a:r>
              <a:rPr sz="750" b="1" spc="-7" dirty="0">
                <a:solidFill>
                  <a:srgbClr val="1F4E79"/>
                </a:solidFill>
                <a:latin typeface="Arial"/>
                <a:cs typeface="Arial"/>
              </a:rPr>
              <a:t>Calculation</a:t>
            </a:r>
            <a:endParaRPr sz="75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901647" y="347229"/>
            <a:ext cx="4391025" cy="4330"/>
          </a:xfrm>
          <a:custGeom>
            <a:avLst/>
            <a:gdLst/>
            <a:ahLst/>
            <a:cxnLst/>
            <a:rect l="l" t="t" r="r" b="b"/>
            <a:pathLst>
              <a:path w="6440170" h="6350">
                <a:moveTo>
                  <a:pt x="6439789" y="0"/>
                </a:moveTo>
                <a:lnTo>
                  <a:pt x="0" y="0"/>
                </a:lnTo>
                <a:lnTo>
                  <a:pt x="0" y="6096"/>
                </a:lnTo>
                <a:lnTo>
                  <a:pt x="6439789" y="6096"/>
                </a:lnTo>
                <a:lnTo>
                  <a:pt x="6439789" y="0"/>
                </a:lnTo>
                <a:close/>
              </a:path>
            </a:pathLst>
          </a:custGeom>
          <a:solidFill>
            <a:srgbClr val="2D75B6"/>
          </a:solidFill>
        </p:spPr>
        <p:txBody>
          <a:bodyPr wrap="square" lIns="0" tIns="0" rIns="0" bIns="0" rtlCol="0"/>
          <a:lstStyle/>
          <a:p>
            <a:endParaRPr sz="1227"/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841976"/>
              </p:ext>
            </p:extLst>
          </p:nvPr>
        </p:nvGraphicFramePr>
        <p:xfrm>
          <a:off x="2623279" y="437174"/>
          <a:ext cx="6945442" cy="305807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177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04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502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626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972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9721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 gridSpan="6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r>
                        <a:rPr sz="700" b="1" dirty="0">
                          <a:solidFill>
                            <a:srgbClr val="212121"/>
                          </a:solidFill>
                          <a:latin typeface="Arial"/>
                          <a:cs typeface="Arial"/>
                        </a:rPr>
                        <a:t>Technical</a:t>
                      </a:r>
                      <a:r>
                        <a:rPr sz="700" b="1" spc="-5" dirty="0">
                          <a:solidFill>
                            <a:srgbClr val="21212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700" b="1" spc="-10" dirty="0">
                          <a:solidFill>
                            <a:srgbClr val="212121"/>
                          </a:solidFill>
                          <a:latin typeface="Arial"/>
                          <a:cs typeface="Arial"/>
                        </a:rPr>
                        <a:t>Presentation</a:t>
                      </a:r>
                      <a:endParaRPr sz="700">
                        <a:latin typeface="Arial"/>
                        <a:cs typeface="Arial"/>
                      </a:endParaRPr>
                    </a:p>
                  </a:txBody>
                  <a:tcPr marL="0" marR="0" marT="96116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164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40"/>
                        </a:spcBef>
                      </a:pPr>
                      <a:r>
                        <a:rPr sz="700" b="1" spc="-10" dirty="0">
                          <a:latin typeface="Arial"/>
                          <a:cs typeface="Arial"/>
                        </a:rPr>
                        <a:t>Criteria</a:t>
                      </a:r>
                      <a:endParaRPr sz="700" dirty="0">
                        <a:latin typeface="Arial"/>
                        <a:cs typeface="Arial"/>
                      </a:endParaRPr>
                    </a:p>
                  </a:txBody>
                  <a:tcPr marL="0" marR="0" marT="813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40"/>
                        </a:spcBef>
                      </a:pPr>
                      <a:r>
                        <a:rPr sz="700" b="1" spc="-10" dirty="0">
                          <a:latin typeface="Arial"/>
                          <a:cs typeface="Arial"/>
                        </a:rPr>
                        <a:t>Weightage</a:t>
                      </a:r>
                      <a:endParaRPr sz="700">
                        <a:latin typeface="Arial"/>
                        <a:cs typeface="Arial"/>
                      </a:endParaRPr>
                    </a:p>
                  </a:txBody>
                  <a:tcPr marL="0" marR="0" marT="813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316865" marR="308610" indent="51435">
                        <a:lnSpc>
                          <a:spcPts val="1150"/>
                        </a:lnSpc>
                        <a:spcBef>
                          <a:spcPts val="445"/>
                        </a:spcBef>
                      </a:pPr>
                      <a:r>
                        <a:rPr sz="700" b="1" dirty="0">
                          <a:latin typeface="Arial"/>
                          <a:cs typeface="Arial"/>
                        </a:rPr>
                        <a:t>Level</a:t>
                      </a:r>
                      <a:r>
                        <a:rPr sz="700" b="1" spc="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700" b="1" dirty="0">
                          <a:latin typeface="Arial"/>
                          <a:cs typeface="Arial"/>
                        </a:rPr>
                        <a:t>4</a:t>
                      </a:r>
                      <a:r>
                        <a:rPr sz="700" b="1" spc="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700" b="1" spc="-50" dirty="0">
                          <a:latin typeface="Arial"/>
                          <a:cs typeface="Arial"/>
                        </a:rPr>
                        <a:t>– </a:t>
                      </a:r>
                      <a:r>
                        <a:rPr sz="700" b="1" spc="-10" dirty="0">
                          <a:latin typeface="Arial"/>
                          <a:cs typeface="Arial"/>
                        </a:rPr>
                        <a:t>Exemplary</a:t>
                      </a:r>
                      <a:endParaRPr sz="700" dirty="0">
                        <a:latin typeface="Arial"/>
                        <a:cs typeface="Arial"/>
                      </a:endParaRPr>
                    </a:p>
                  </a:txBody>
                  <a:tcPr marL="0" marR="0" marT="38533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219075" marR="208915" indent="20955">
                        <a:lnSpc>
                          <a:spcPts val="1150"/>
                        </a:lnSpc>
                        <a:spcBef>
                          <a:spcPts val="445"/>
                        </a:spcBef>
                      </a:pPr>
                      <a:r>
                        <a:rPr sz="700" b="1" dirty="0">
                          <a:latin typeface="Arial"/>
                          <a:cs typeface="Arial"/>
                        </a:rPr>
                        <a:t>Level</a:t>
                      </a:r>
                      <a:r>
                        <a:rPr sz="700" b="1" spc="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700" b="1" dirty="0">
                          <a:latin typeface="Arial"/>
                          <a:cs typeface="Arial"/>
                        </a:rPr>
                        <a:t>3 </a:t>
                      </a:r>
                      <a:r>
                        <a:rPr sz="700" b="1" spc="-50" dirty="0">
                          <a:latin typeface="Arial"/>
                          <a:cs typeface="Arial"/>
                        </a:rPr>
                        <a:t>– </a:t>
                      </a:r>
                      <a:r>
                        <a:rPr sz="700" b="1" spc="-10" dirty="0">
                          <a:latin typeface="Arial"/>
                          <a:cs typeface="Arial"/>
                        </a:rPr>
                        <a:t>Proficient</a:t>
                      </a:r>
                      <a:endParaRPr sz="700">
                        <a:latin typeface="Arial"/>
                        <a:cs typeface="Arial"/>
                      </a:endParaRPr>
                    </a:p>
                  </a:txBody>
                  <a:tcPr marL="0" marR="0" marT="38533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182245" marR="176530" indent="73025">
                        <a:lnSpc>
                          <a:spcPts val="1150"/>
                        </a:lnSpc>
                        <a:spcBef>
                          <a:spcPts val="445"/>
                        </a:spcBef>
                      </a:pPr>
                      <a:r>
                        <a:rPr sz="700" b="1" dirty="0">
                          <a:latin typeface="Arial"/>
                          <a:cs typeface="Arial"/>
                        </a:rPr>
                        <a:t>Level</a:t>
                      </a:r>
                      <a:r>
                        <a:rPr sz="700" b="1" spc="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700" b="1" dirty="0">
                          <a:latin typeface="Arial"/>
                          <a:cs typeface="Arial"/>
                        </a:rPr>
                        <a:t>2</a:t>
                      </a:r>
                      <a:r>
                        <a:rPr sz="700" b="1" spc="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700" b="1" spc="-50" dirty="0">
                          <a:latin typeface="Arial"/>
                          <a:cs typeface="Arial"/>
                        </a:rPr>
                        <a:t>– </a:t>
                      </a:r>
                      <a:r>
                        <a:rPr sz="700" b="1" spc="-10" dirty="0">
                          <a:latin typeface="Arial"/>
                          <a:cs typeface="Arial"/>
                        </a:rPr>
                        <a:t>Developing</a:t>
                      </a:r>
                      <a:endParaRPr sz="700">
                        <a:latin typeface="Arial"/>
                        <a:cs typeface="Arial"/>
                      </a:endParaRPr>
                    </a:p>
                  </a:txBody>
                  <a:tcPr marL="0" marR="0" marT="38533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215900" marR="207010" indent="39370">
                        <a:lnSpc>
                          <a:spcPts val="1150"/>
                        </a:lnSpc>
                        <a:spcBef>
                          <a:spcPts val="445"/>
                        </a:spcBef>
                      </a:pPr>
                      <a:r>
                        <a:rPr sz="700" b="1" dirty="0">
                          <a:latin typeface="Arial"/>
                          <a:cs typeface="Arial"/>
                        </a:rPr>
                        <a:t>Level</a:t>
                      </a:r>
                      <a:r>
                        <a:rPr sz="700" b="1" spc="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700" b="1" dirty="0">
                          <a:latin typeface="Arial"/>
                          <a:cs typeface="Arial"/>
                        </a:rPr>
                        <a:t>1 </a:t>
                      </a:r>
                      <a:r>
                        <a:rPr sz="700" b="1" spc="-50" dirty="0">
                          <a:latin typeface="Arial"/>
                          <a:cs typeface="Arial"/>
                        </a:rPr>
                        <a:t>– </a:t>
                      </a:r>
                      <a:r>
                        <a:rPr sz="700" b="1" spc="-10" dirty="0">
                          <a:latin typeface="Arial"/>
                          <a:cs typeface="Arial"/>
                        </a:rPr>
                        <a:t>Beginning</a:t>
                      </a:r>
                      <a:endParaRPr sz="700">
                        <a:latin typeface="Arial"/>
                        <a:cs typeface="Arial"/>
                      </a:endParaRPr>
                    </a:p>
                  </a:txBody>
                  <a:tcPr marL="0" marR="0" marT="38533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77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173355" marR="171450" algn="ctr">
                        <a:lnSpc>
                          <a:spcPts val="1150"/>
                        </a:lnSpc>
                      </a:pPr>
                      <a:r>
                        <a:rPr sz="700" spc="-10" dirty="0">
                          <a:latin typeface="Arial MT"/>
                          <a:cs typeface="Arial MT"/>
                        </a:rPr>
                        <a:t>Technical Content Accuracy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T="138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700" spc="-25" dirty="0">
                          <a:latin typeface="Arial MT"/>
                          <a:cs typeface="Arial MT"/>
                        </a:rPr>
                        <a:t>30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980" marR="83820" algn="ctr">
                        <a:lnSpc>
                          <a:spcPts val="1150"/>
                        </a:lnSpc>
                        <a:spcBef>
                          <a:spcPts val="735"/>
                        </a:spcBef>
                      </a:pPr>
                      <a:r>
                        <a:rPr sz="700" dirty="0">
                          <a:latin typeface="Arial MT"/>
                          <a:cs typeface="Arial MT"/>
                        </a:rPr>
                        <a:t>Highly</a:t>
                      </a:r>
                      <a:r>
                        <a:rPr sz="7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accurate,</a:t>
                      </a:r>
                      <a:r>
                        <a:rPr sz="7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spc="-25" dirty="0">
                          <a:latin typeface="Arial MT"/>
                          <a:cs typeface="Arial MT"/>
                        </a:rPr>
                        <a:t>in-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depth,</a:t>
                      </a:r>
                      <a:r>
                        <a:rPr sz="7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spc="-25" dirty="0">
                          <a:latin typeface="Arial MT"/>
                          <a:cs typeface="Arial MT"/>
                        </a:rPr>
                        <a:t>and</a:t>
                      </a:r>
                      <a:r>
                        <a:rPr sz="700" spc="50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insightful</a:t>
                      </a:r>
                      <a:r>
                        <a:rPr sz="700" spc="-10" dirty="0">
                          <a:latin typeface="Arial MT"/>
                          <a:cs typeface="Arial MT"/>
                        </a:rPr>
                        <a:t> technical explanation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T="6364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 marR="81915" indent="-5715" algn="ctr">
                        <a:lnSpc>
                          <a:spcPts val="1150"/>
                        </a:lnSpc>
                        <a:spcBef>
                          <a:spcPts val="160"/>
                        </a:spcBef>
                      </a:pPr>
                      <a:r>
                        <a:rPr sz="700" spc="-10" dirty="0">
                          <a:latin typeface="Arial MT"/>
                          <a:cs typeface="Arial MT"/>
                        </a:rPr>
                        <a:t>Technically 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correct</a:t>
                      </a:r>
                      <a:r>
                        <a:rPr sz="7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spc="-10" dirty="0">
                          <a:latin typeface="Arial MT"/>
                          <a:cs typeface="Arial MT"/>
                        </a:rPr>
                        <a:t>content 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with</a:t>
                      </a:r>
                      <a:r>
                        <a:rPr sz="700" spc="-10" dirty="0">
                          <a:latin typeface="Arial MT"/>
                          <a:cs typeface="Arial MT"/>
                        </a:rPr>
                        <a:t> adequate 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depth</a:t>
                      </a:r>
                      <a:r>
                        <a:rPr sz="7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spc="-25" dirty="0">
                          <a:latin typeface="Arial MT"/>
                          <a:cs typeface="Arial MT"/>
                        </a:rPr>
                        <a:t>and </a:t>
                      </a:r>
                      <a:r>
                        <a:rPr sz="700" spc="-10" dirty="0">
                          <a:latin typeface="Arial MT"/>
                          <a:cs typeface="Arial MT"/>
                        </a:rPr>
                        <a:t>clarity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T="138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0330" marR="90170" algn="ctr">
                        <a:lnSpc>
                          <a:spcPts val="1150"/>
                        </a:lnSpc>
                        <a:spcBef>
                          <a:spcPts val="160"/>
                        </a:spcBef>
                      </a:pPr>
                      <a:r>
                        <a:rPr sz="700" dirty="0">
                          <a:latin typeface="Arial MT"/>
                          <a:cs typeface="Arial MT"/>
                        </a:rPr>
                        <a:t>Basic</a:t>
                      </a:r>
                      <a:r>
                        <a:rPr sz="7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spc="-10" dirty="0">
                          <a:latin typeface="Arial MT"/>
                          <a:cs typeface="Arial MT"/>
                        </a:rPr>
                        <a:t>concepts 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presented</a:t>
                      </a:r>
                      <a:r>
                        <a:rPr sz="700" spc="-20" dirty="0">
                          <a:latin typeface="Arial MT"/>
                          <a:cs typeface="Arial MT"/>
                        </a:rPr>
                        <a:t> with </a:t>
                      </a:r>
                      <a:r>
                        <a:rPr sz="700" spc="-10" dirty="0">
                          <a:latin typeface="Arial MT"/>
                          <a:cs typeface="Arial MT"/>
                        </a:rPr>
                        <a:t>limited 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accuracy</a:t>
                      </a:r>
                      <a:r>
                        <a:rPr sz="7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spc="-25" dirty="0">
                          <a:latin typeface="Arial MT"/>
                          <a:cs typeface="Arial MT"/>
                        </a:rPr>
                        <a:t>and </a:t>
                      </a:r>
                      <a:r>
                        <a:rPr sz="700" spc="-10" dirty="0">
                          <a:latin typeface="Arial MT"/>
                          <a:cs typeface="Arial MT"/>
                        </a:rPr>
                        <a:t>depth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T="138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3025" marR="69850" indent="3175" algn="ctr">
                        <a:lnSpc>
                          <a:spcPts val="1150"/>
                        </a:lnSpc>
                        <a:spcBef>
                          <a:spcPts val="160"/>
                        </a:spcBef>
                      </a:pPr>
                      <a:r>
                        <a:rPr sz="700" spc="-10" dirty="0">
                          <a:latin typeface="Arial MT"/>
                          <a:cs typeface="Arial MT"/>
                        </a:rPr>
                        <a:t>Content 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contains</a:t>
                      </a:r>
                      <a:r>
                        <a:rPr sz="7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spc="-10" dirty="0">
                          <a:latin typeface="Arial MT"/>
                          <a:cs typeface="Arial MT"/>
                        </a:rPr>
                        <a:t>major 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technical</a:t>
                      </a:r>
                      <a:r>
                        <a:rPr sz="7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spc="-10" dirty="0">
                          <a:latin typeface="Arial MT"/>
                          <a:cs typeface="Arial MT"/>
                        </a:rPr>
                        <a:t>errors; 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concepts</a:t>
                      </a:r>
                      <a:r>
                        <a:rPr sz="7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spc="-10" dirty="0">
                          <a:latin typeface="Arial MT"/>
                          <a:cs typeface="Arial MT"/>
                        </a:rPr>
                        <a:t>poorly understood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T="138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727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91440" marR="80010" indent="118745">
                        <a:lnSpc>
                          <a:spcPts val="1150"/>
                        </a:lnSpc>
                      </a:pPr>
                      <a:r>
                        <a:rPr sz="700" spc="-10" dirty="0">
                          <a:latin typeface="Arial MT"/>
                          <a:cs typeface="Arial MT"/>
                        </a:rPr>
                        <a:t>Problem Identification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00" spc="-25" dirty="0">
                          <a:latin typeface="Arial MT"/>
                          <a:cs typeface="Arial MT"/>
                        </a:rPr>
                        <a:t>25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100330" marR="93345" indent="-3810" algn="ctr">
                        <a:lnSpc>
                          <a:spcPts val="1150"/>
                        </a:lnSpc>
                        <a:spcBef>
                          <a:spcPts val="5"/>
                        </a:spcBef>
                      </a:pPr>
                      <a:r>
                        <a:rPr sz="700" dirty="0">
                          <a:latin typeface="Arial MT"/>
                          <a:cs typeface="Arial MT"/>
                        </a:rPr>
                        <a:t>Problem </a:t>
                      </a:r>
                      <a:r>
                        <a:rPr sz="700" spc="-10" dirty="0">
                          <a:latin typeface="Arial MT"/>
                          <a:cs typeface="Arial MT"/>
                        </a:rPr>
                        <a:t>rigorously 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analyzed </a:t>
                      </a:r>
                      <a:r>
                        <a:rPr sz="700" spc="-10" dirty="0">
                          <a:latin typeface="Arial MT"/>
                          <a:cs typeface="Arial MT"/>
                        </a:rPr>
                        <a:t>using 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appropriate</a:t>
                      </a:r>
                      <a:r>
                        <a:rPr sz="7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spc="-25" dirty="0">
                          <a:latin typeface="Arial MT"/>
                          <a:cs typeface="Arial MT"/>
                        </a:rPr>
                        <a:t>and 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advanced</a:t>
                      </a:r>
                      <a:r>
                        <a:rPr sz="7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spc="-10" dirty="0">
                          <a:latin typeface="Arial MT"/>
                          <a:cs typeface="Arial MT"/>
                        </a:rPr>
                        <a:t>methods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T="346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3025" marR="66040" algn="ctr">
                        <a:lnSpc>
                          <a:spcPct val="96000"/>
                        </a:lnSpc>
                        <a:spcBef>
                          <a:spcPts val="580"/>
                        </a:spcBef>
                      </a:pPr>
                      <a:r>
                        <a:rPr sz="700" dirty="0">
                          <a:latin typeface="Arial MT"/>
                          <a:cs typeface="Arial MT"/>
                        </a:rPr>
                        <a:t>Problem </a:t>
                      </a:r>
                      <a:r>
                        <a:rPr sz="700" spc="-10" dirty="0">
                          <a:latin typeface="Arial MT"/>
                          <a:cs typeface="Arial MT"/>
                        </a:rPr>
                        <a:t>clearly 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defined</a:t>
                      </a:r>
                      <a:r>
                        <a:rPr sz="7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with</a:t>
                      </a:r>
                      <a:r>
                        <a:rPr sz="7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spc="-50" dirty="0">
                          <a:latin typeface="Arial MT"/>
                          <a:cs typeface="Arial MT"/>
                        </a:rPr>
                        <a:t>a </a:t>
                      </a:r>
                      <a:r>
                        <a:rPr sz="700" spc="-10" dirty="0">
                          <a:latin typeface="Arial MT"/>
                          <a:cs typeface="Arial MT"/>
                        </a:rPr>
                        <a:t>logical engineering approach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T="50223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0330" marR="90170" indent="-6350" algn="ctr">
                        <a:lnSpc>
                          <a:spcPct val="96000"/>
                        </a:lnSpc>
                        <a:spcBef>
                          <a:spcPts val="580"/>
                        </a:spcBef>
                      </a:pPr>
                      <a:r>
                        <a:rPr sz="700" spc="-10" dirty="0">
                          <a:latin typeface="Arial MT"/>
                          <a:cs typeface="Arial MT"/>
                        </a:rPr>
                        <a:t>Problem 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identified</a:t>
                      </a:r>
                      <a:r>
                        <a:rPr sz="7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spc="-25" dirty="0">
                          <a:latin typeface="Arial MT"/>
                          <a:cs typeface="Arial MT"/>
                        </a:rPr>
                        <a:t>but 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analysis</a:t>
                      </a:r>
                      <a:r>
                        <a:rPr sz="7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spc="-25" dirty="0">
                          <a:latin typeface="Arial MT"/>
                          <a:cs typeface="Arial MT"/>
                        </a:rPr>
                        <a:t>or 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methodology</a:t>
                      </a:r>
                      <a:r>
                        <a:rPr sz="7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spc="-25" dirty="0">
                          <a:latin typeface="Arial MT"/>
                          <a:cs typeface="Arial MT"/>
                        </a:rPr>
                        <a:t>is </a:t>
                      </a:r>
                      <a:r>
                        <a:rPr sz="700" spc="-20" dirty="0">
                          <a:latin typeface="Arial MT"/>
                          <a:cs typeface="Arial MT"/>
                        </a:rPr>
                        <a:t>weak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T="50223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6530" marR="168275" indent="-4445" algn="ctr">
                        <a:lnSpc>
                          <a:spcPct val="96000"/>
                        </a:lnSpc>
                      </a:pPr>
                      <a:r>
                        <a:rPr sz="700" spc="-10" dirty="0">
                          <a:latin typeface="Arial MT"/>
                          <a:cs typeface="Arial MT"/>
                        </a:rPr>
                        <a:t>Problem statement 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unclear</a:t>
                      </a:r>
                      <a:r>
                        <a:rPr sz="7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spc="-25" dirty="0">
                          <a:latin typeface="Arial MT"/>
                          <a:cs typeface="Arial MT"/>
                        </a:rPr>
                        <a:t>or 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incorrect;</a:t>
                      </a:r>
                      <a:r>
                        <a:rPr sz="7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spc="-25" dirty="0">
                          <a:latin typeface="Arial MT"/>
                          <a:cs typeface="Arial MT"/>
                        </a:rPr>
                        <a:t>no </a:t>
                      </a:r>
                      <a:r>
                        <a:rPr sz="700" spc="-10" dirty="0">
                          <a:latin typeface="Arial MT"/>
                          <a:cs typeface="Arial MT"/>
                        </a:rPr>
                        <a:t>logical approach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6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1905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700" dirty="0">
                          <a:latin typeface="Arial MT"/>
                          <a:cs typeface="Arial MT"/>
                        </a:rPr>
                        <a:t>Use</a:t>
                      </a:r>
                      <a:r>
                        <a:rPr sz="7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of </a:t>
                      </a:r>
                      <a:r>
                        <a:rPr sz="700" spc="-10" dirty="0">
                          <a:latin typeface="Arial MT"/>
                          <a:cs typeface="Arial MT"/>
                        </a:rPr>
                        <a:t>Tools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700" spc="-25" dirty="0">
                          <a:latin typeface="Arial MT"/>
                          <a:cs typeface="Arial MT"/>
                        </a:rPr>
                        <a:t>20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980" marR="83185" indent="-5080" algn="ctr">
                        <a:lnSpc>
                          <a:spcPct val="96100"/>
                        </a:lnSpc>
                        <a:spcBef>
                          <a:spcPts val="700"/>
                        </a:spcBef>
                      </a:pPr>
                      <a:r>
                        <a:rPr sz="700" dirty="0">
                          <a:latin typeface="Arial MT"/>
                          <a:cs typeface="Arial MT"/>
                        </a:rPr>
                        <a:t>Advanced</a:t>
                      </a:r>
                      <a:r>
                        <a:rPr sz="7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spc="-10" dirty="0">
                          <a:latin typeface="Arial MT"/>
                          <a:cs typeface="Arial MT"/>
                        </a:rPr>
                        <a:t>tools, well-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analyzed</a:t>
                      </a:r>
                      <a:r>
                        <a:rPr sz="700" spc="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spc="-20" dirty="0">
                          <a:latin typeface="Arial MT"/>
                          <a:cs typeface="Arial MT"/>
                        </a:rPr>
                        <a:t>data, 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and highly</a:t>
                      </a:r>
                      <a:r>
                        <a:rPr sz="700" spc="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spc="-10" dirty="0">
                          <a:latin typeface="Arial MT"/>
                          <a:cs typeface="Arial MT"/>
                        </a:rPr>
                        <a:t>effective visuals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T="6061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3025" marR="66040" indent="635" algn="ctr">
                        <a:lnSpc>
                          <a:spcPct val="96100"/>
                        </a:lnSpc>
                        <a:spcBef>
                          <a:spcPts val="125"/>
                        </a:spcBef>
                      </a:pPr>
                      <a:r>
                        <a:rPr sz="700" spc="-10" dirty="0">
                          <a:latin typeface="Arial MT"/>
                          <a:cs typeface="Arial MT"/>
                        </a:rPr>
                        <a:t>Appropriate 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tools</a:t>
                      </a:r>
                      <a:r>
                        <a:rPr sz="7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and</a:t>
                      </a:r>
                      <a:r>
                        <a:rPr sz="7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spc="-20" dirty="0">
                          <a:latin typeface="Arial MT"/>
                          <a:cs typeface="Arial MT"/>
                        </a:rPr>
                        <a:t>data 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used</a:t>
                      </a:r>
                      <a:r>
                        <a:rPr sz="7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spc="-10" dirty="0">
                          <a:latin typeface="Arial MT"/>
                          <a:cs typeface="Arial MT"/>
                        </a:rPr>
                        <a:t>effectively 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with</a:t>
                      </a:r>
                      <a:r>
                        <a:rPr sz="700" spc="-10" dirty="0">
                          <a:latin typeface="Arial MT"/>
                          <a:cs typeface="Arial MT"/>
                        </a:rPr>
                        <a:t> clear visuals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T="1082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3505" marR="96520" indent="-4445" algn="ctr">
                        <a:lnSpc>
                          <a:spcPct val="96100"/>
                        </a:lnSpc>
                        <a:spcBef>
                          <a:spcPts val="700"/>
                        </a:spcBef>
                      </a:pPr>
                      <a:r>
                        <a:rPr sz="700" dirty="0">
                          <a:latin typeface="Arial MT"/>
                          <a:cs typeface="Arial MT"/>
                        </a:rPr>
                        <a:t>Limited</a:t>
                      </a:r>
                      <a:r>
                        <a:rPr sz="7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use</a:t>
                      </a:r>
                      <a:r>
                        <a:rPr sz="7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spc="-25" dirty="0">
                          <a:latin typeface="Arial MT"/>
                          <a:cs typeface="Arial MT"/>
                        </a:rPr>
                        <a:t>of 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tools</a:t>
                      </a:r>
                      <a:r>
                        <a:rPr sz="7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and</a:t>
                      </a:r>
                      <a:r>
                        <a:rPr sz="7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spc="-10" dirty="0">
                          <a:latin typeface="Arial MT"/>
                          <a:cs typeface="Arial MT"/>
                        </a:rPr>
                        <a:t>basic </a:t>
                      </a:r>
                      <a:r>
                        <a:rPr sz="700" spc="-20" dirty="0">
                          <a:latin typeface="Arial MT"/>
                          <a:cs typeface="Arial MT"/>
                        </a:rPr>
                        <a:t>data </a:t>
                      </a:r>
                      <a:r>
                        <a:rPr sz="700" spc="-10" dirty="0">
                          <a:latin typeface="Arial MT"/>
                          <a:cs typeface="Arial MT"/>
                        </a:rPr>
                        <a:t>interpretation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T="6061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 marR="88265" indent="635" algn="ctr">
                        <a:lnSpc>
                          <a:spcPct val="96100"/>
                        </a:lnSpc>
                        <a:spcBef>
                          <a:spcPts val="700"/>
                        </a:spcBef>
                      </a:pPr>
                      <a:r>
                        <a:rPr sz="700" dirty="0">
                          <a:latin typeface="Arial MT"/>
                          <a:cs typeface="Arial MT"/>
                        </a:rPr>
                        <a:t>Minimal</a:t>
                      </a:r>
                      <a:r>
                        <a:rPr sz="7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spc="-25" dirty="0">
                          <a:latin typeface="Arial MT"/>
                          <a:cs typeface="Arial MT"/>
                        </a:rPr>
                        <a:t>or 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incorrect</a:t>
                      </a:r>
                      <a:r>
                        <a:rPr sz="7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use</a:t>
                      </a:r>
                      <a:r>
                        <a:rPr sz="7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spc="-25" dirty="0">
                          <a:latin typeface="Arial MT"/>
                          <a:cs typeface="Arial MT"/>
                        </a:rPr>
                        <a:t>of 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tools</a:t>
                      </a:r>
                      <a:r>
                        <a:rPr sz="7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and</a:t>
                      </a:r>
                      <a:r>
                        <a:rPr sz="7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spc="-10" dirty="0">
                          <a:latin typeface="Arial MT"/>
                          <a:cs typeface="Arial MT"/>
                        </a:rPr>
                        <a:t>data; 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poor</a:t>
                      </a:r>
                      <a:r>
                        <a:rPr sz="7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spc="-10" dirty="0">
                          <a:latin typeface="Arial MT"/>
                          <a:cs typeface="Arial MT"/>
                        </a:rPr>
                        <a:t>visuals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T="6061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95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377825" marR="71120" indent="-302260">
                        <a:lnSpc>
                          <a:spcPts val="1150"/>
                        </a:lnSpc>
                      </a:pPr>
                      <a:r>
                        <a:rPr sz="700" spc="-10" dirty="0">
                          <a:latin typeface="Arial MT"/>
                          <a:cs typeface="Arial MT"/>
                        </a:rPr>
                        <a:t>Communicati </a:t>
                      </a:r>
                      <a:r>
                        <a:rPr sz="700" spc="-25" dirty="0">
                          <a:latin typeface="Arial MT"/>
                          <a:cs typeface="Arial MT"/>
                        </a:rPr>
                        <a:t>on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T="6364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700" spc="-25" dirty="0">
                          <a:latin typeface="Arial MT"/>
                          <a:cs typeface="Arial MT"/>
                        </a:rPr>
                        <a:t>15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7160" marR="128270" indent="-3175" algn="ctr">
                        <a:lnSpc>
                          <a:spcPts val="1150"/>
                        </a:lnSpc>
                        <a:spcBef>
                          <a:spcPts val="735"/>
                        </a:spcBef>
                      </a:pPr>
                      <a:r>
                        <a:rPr sz="700" dirty="0">
                          <a:latin typeface="Arial MT"/>
                          <a:cs typeface="Arial MT"/>
                        </a:rPr>
                        <a:t>Highly</a:t>
                      </a:r>
                      <a:r>
                        <a:rPr sz="700" spc="-10" dirty="0">
                          <a:latin typeface="Arial MT"/>
                          <a:cs typeface="Arial MT"/>
                        </a:rPr>
                        <a:t> engaging, 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confident,</a:t>
                      </a:r>
                      <a:r>
                        <a:rPr sz="7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spc="-25" dirty="0">
                          <a:latin typeface="Arial MT"/>
                          <a:cs typeface="Arial MT"/>
                        </a:rPr>
                        <a:t>and </a:t>
                      </a:r>
                      <a:r>
                        <a:rPr sz="700" spc="-10" dirty="0">
                          <a:latin typeface="Arial MT"/>
                          <a:cs typeface="Arial MT"/>
                        </a:rPr>
                        <a:t>audience-focused delivery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T="6364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090" marR="73660" indent="-5080" algn="ctr">
                        <a:lnSpc>
                          <a:spcPts val="1150"/>
                        </a:lnSpc>
                        <a:spcBef>
                          <a:spcPts val="735"/>
                        </a:spcBef>
                      </a:pPr>
                      <a:r>
                        <a:rPr sz="700" spc="-10" dirty="0">
                          <a:latin typeface="Arial MT"/>
                          <a:cs typeface="Arial MT"/>
                        </a:rPr>
                        <a:t>Clear, 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organized,</a:t>
                      </a:r>
                      <a:r>
                        <a:rPr sz="7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spc="-25" dirty="0">
                          <a:latin typeface="Arial MT"/>
                          <a:cs typeface="Arial MT"/>
                        </a:rPr>
                        <a:t>and </a:t>
                      </a:r>
                      <a:r>
                        <a:rPr sz="700" spc="-10" dirty="0">
                          <a:latin typeface="Arial MT"/>
                          <a:cs typeface="Arial MT"/>
                        </a:rPr>
                        <a:t>professional communication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T="6364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3025" marR="70485" indent="5080" algn="ctr">
                        <a:lnSpc>
                          <a:spcPts val="1150"/>
                        </a:lnSpc>
                        <a:spcBef>
                          <a:spcPts val="735"/>
                        </a:spcBef>
                      </a:pPr>
                      <a:r>
                        <a:rPr sz="700" spc="-10" dirty="0">
                          <a:latin typeface="Arial MT"/>
                          <a:cs typeface="Arial MT"/>
                        </a:rPr>
                        <a:t>Understandable 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but</a:t>
                      </a:r>
                      <a:r>
                        <a:rPr sz="700" spc="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lacks</a:t>
                      </a:r>
                      <a:r>
                        <a:rPr sz="7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spc="-10" dirty="0">
                          <a:latin typeface="Arial MT"/>
                          <a:cs typeface="Arial MT"/>
                        </a:rPr>
                        <a:t>clarity, 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structure,</a:t>
                      </a:r>
                      <a:r>
                        <a:rPr sz="700" spc="-25" dirty="0">
                          <a:latin typeface="Arial MT"/>
                          <a:cs typeface="Arial MT"/>
                        </a:rPr>
                        <a:t> or </a:t>
                      </a:r>
                      <a:r>
                        <a:rPr sz="700" spc="-10" dirty="0">
                          <a:latin typeface="Arial MT"/>
                          <a:cs typeface="Arial MT"/>
                        </a:rPr>
                        <a:t>confidence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T="6364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740" marR="72390" indent="1270" algn="ctr">
                        <a:lnSpc>
                          <a:spcPts val="1150"/>
                        </a:lnSpc>
                        <a:spcBef>
                          <a:spcPts val="160"/>
                        </a:spcBef>
                      </a:pPr>
                      <a:r>
                        <a:rPr sz="700" spc="-20" dirty="0">
                          <a:latin typeface="Arial MT"/>
                          <a:cs typeface="Arial MT"/>
                        </a:rPr>
                        <a:t>Poor </a:t>
                      </a:r>
                      <a:r>
                        <a:rPr sz="700" spc="-10" dirty="0">
                          <a:latin typeface="Arial MT"/>
                          <a:cs typeface="Arial MT"/>
                        </a:rPr>
                        <a:t>organization, 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unclear</a:t>
                      </a:r>
                      <a:r>
                        <a:rPr sz="700" spc="-10" dirty="0">
                          <a:latin typeface="Arial MT"/>
                          <a:cs typeface="Arial MT"/>
                        </a:rPr>
                        <a:t> speech, ineffective</a:t>
                      </a:r>
                      <a:r>
                        <a:rPr sz="700" spc="50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spc="-10" dirty="0">
                          <a:latin typeface="Arial MT"/>
                          <a:cs typeface="Arial MT"/>
                        </a:rPr>
                        <a:t>slides</a:t>
                      </a:r>
                      <a:endParaRPr sz="700" dirty="0">
                        <a:latin typeface="Arial MT"/>
                        <a:cs typeface="Arial MT"/>
                      </a:endParaRPr>
                    </a:p>
                  </a:txBody>
                  <a:tcPr marL="0" marR="0" marT="138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941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362585" marR="80010" indent="-280670">
                        <a:lnSpc>
                          <a:spcPts val="1150"/>
                        </a:lnSpc>
                        <a:spcBef>
                          <a:spcPts val="5"/>
                        </a:spcBef>
                      </a:pPr>
                      <a:r>
                        <a:rPr sz="700" spc="-10" dirty="0">
                          <a:latin typeface="Arial MT"/>
                          <a:cs typeface="Arial MT"/>
                        </a:rPr>
                        <a:t>Professionali </a:t>
                      </a:r>
                      <a:r>
                        <a:rPr sz="700" spc="-25" dirty="0">
                          <a:latin typeface="Arial MT"/>
                          <a:cs typeface="Arial MT"/>
                        </a:rPr>
                        <a:t>sm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00" spc="-25" dirty="0">
                          <a:latin typeface="Arial MT"/>
                          <a:cs typeface="Arial MT"/>
                        </a:rPr>
                        <a:t>10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130810" marR="124460" indent="2540" algn="ctr">
                        <a:lnSpc>
                          <a:spcPts val="1150"/>
                        </a:lnSpc>
                      </a:pPr>
                      <a:r>
                        <a:rPr sz="700" spc="-10" dirty="0">
                          <a:latin typeface="Arial MT"/>
                          <a:cs typeface="Arial MT"/>
                        </a:rPr>
                        <a:t>Exemplary professionalism, 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leadership,</a:t>
                      </a:r>
                      <a:r>
                        <a:rPr sz="7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spc="-25" dirty="0">
                          <a:latin typeface="Arial MT"/>
                          <a:cs typeface="Arial MT"/>
                        </a:rPr>
                        <a:t>and 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ethical</a:t>
                      </a:r>
                      <a:r>
                        <a:rPr sz="7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spc="-10" dirty="0">
                          <a:latin typeface="Arial MT"/>
                          <a:cs typeface="Arial MT"/>
                        </a:rPr>
                        <a:t>awareness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T="346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115570" marR="111125" indent="-2540" algn="ctr">
                        <a:lnSpc>
                          <a:spcPts val="1150"/>
                        </a:lnSpc>
                      </a:pPr>
                      <a:r>
                        <a:rPr sz="700" spc="-10" dirty="0">
                          <a:latin typeface="Arial MT"/>
                          <a:cs typeface="Arial MT"/>
                        </a:rPr>
                        <a:t>Professional 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conduct </a:t>
                      </a:r>
                      <a:r>
                        <a:rPr sz="700" spc="-20" dirty="0">
                          <a:latin typeface="Arial MT"/>
                          <a:cs typeface="Arial MT"/>
                        </a:rPr>
                        <a:t>with 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effective</a:t>
                      </a:r>
                      <a:r>
                        <a:rPr sz="700" spc="-20" dirty="0">
                          <a:latin typeface="Arial MT"/>
                          <a:cs typeface="Arial MT"/>
                        </a:rPr>
                        <a:t> team </a:t>
                      </a:r>
                      <a:r>
                        <a:rPr sz="700" spc="-10" dirty="0">
                          <a:latin typeface="Arial MT"/>
                          <a:cs typeface="Arial MT"/>
                        </a:rPr>
                        <a:t>collaboration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T="346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85090" marR="81280" indent="3175" algn="ctr">
                        <a:lnSpc>
                          <a:spcPts val="1150"/>
                        </a:lnSpc>
                      </a:pPr>
                      <a:r>
                        <a:rPr sz="700" spc="-10" dirty="0">
                          <a:latin typeface="Arial MT"/>
                          <a:cs typeface="Arial MT"/>
                        </a:rPr>
                        <a:t>Basic professionalism</a:t>
                      </a:r>
                      <a:endParaRPr sz="700">
                        <a:latin typeface="Arial MT"/>
                        <a:cs typeface="Arial MT"/>
                      </a:endParaRPr>
                    </a:p>
                    <a:p>
                      <a:pPr marL="121285" marR="120650" algn="ctr">
                        <a:lnSpc>
                          <a:spcPts val="1150"/>
                        </a:lnSpc>
                        <a:spcBef>
                          <a:spcPts val="5"/>
                        </a:spcBef>
                      </a:pPr>
                      <a:r>
                        <a:rPr sz="700" dirty="0">
                          <a:latin typeface="Arial MT"/>
                          <a:cs typeface="Arial MT"/>
                        </a:rPr>
                        <a:t>;</a:t>
                      </a:r>
                      <a:r>
                        <a:rPr sz="700" spc="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uneven</a:t>
                      </a:r>
                      <a:r>
                        <a:rPr sz="700" spc="-20" dirty="0">
                          <a:latin typeface="Arial MT"/>
                          <a:cs typeface="Arial MT"/>
                        </a:rPr>
                        <a:t> team </a:t>
                      </a:r>
                      <a:r>
                        <a:rPr sz="700" spc="-10" dirty="0">
                          <a:latin typeface="Arial MT"/>
                          <a:cs typeface="Arial MT"/>
                        </a:rPr>
                        <a:t>participation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T="346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090" marR="81280" indent="6350" algn="ctr">
                        <a:lnSpc>
                          <a:spcPts val="1150"/>
                        </a:lnSpc>
                        <a:spcBef>
                          <a:spcPts val="40"/>
                        </a:spcBef>
                      </a:pPr>
                      <a:r>
                        <a:rPr sz="700" spc="-10" dirty="0">
                          <a:latin typeface="Arial MT"/>
                          <a:cs typeface="Arial MT"/>
                        </a:rPr>
                        <a:t>Lacks professionalism</a:t>
                      </a:r>
                      <a:endParaRPr sz="700" dirty="0">
                        <a:latin typeface="Arial MT"/>
                        <a:cs typeface="Arial MT"/>
                      </a:endParaRPr>
                    </a:p>
                    <a:p>
                      <a:pPr marL="121920" marR="117475" indent="635" algn="ctr">
                        <a:lnSpc>
                          <a:spcPts val="1150"/>
                        </a:lnSpc>
                      </a:pPr>
                      <a:r>
                        <a:rPr sz="700" dirty="0">
                          <a:latin typeface="Arial MT"/>
                          <a:cs typeface="Arial MT"/>
                        </a:rPr>
                        <a:t>;</a:t>
                      </a:r>
                      <a:r>
                        <a:rPr sz="700" spc="-10" dirty="0">
                          <a:latin typeface="Arial MT"/>
                          <a:cs typeface="Arial MT"/>
                        </a:rPr>
                        <a:t> minimal 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contribution</a:t>
                      </a:r>
                      <a:r>
                        <a:rPr sz="7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spc="-25" dirty="0">
                          <a:latin typeface="Arial MT"/>
                          <a:cs typeface="Arial MT"/>
                        </a:rPr>
                        <a:t>or </a:t>
                      </a:r>
                      <a:r>
                        <a:rPr sz="700" spc="-10" dirty="0">
                          <a:latin typeface="Arial MT"/>
                          <a:cs typeface="Arial MT"/>
                        </a:rPr>
                        <a:t>ethical awareness</a:t>
                      </a:r>
                      <a:endParaRPr sz="700" dirty="0">
                        <a:latin typeface="Arial MT"/>
                        <a:cs typeface="Arial MT"/>
                      </a:endParaRPr>
                    </a:p>
                  </a:txBody>
                  <a:tcPr marL="0" marR="0" marT="346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5" name="objec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6572446"/>
              </p:ext>
            </p:extLst>
          </p:nvPr>
        </p:nvGraphicFramePr>
        <p:xfrm>
          <a:off x="2623279" y="3817580"/>
          <a:ext cx="6945443" cy="8229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297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67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87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834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6250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914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8786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73652">
                <a:tc>
                  <a:txBody>
                    <a:bodyPr/>
                    <a:lstStyle/>
                    <a:p>
                      <a:pPr marL="69850" marR="243204">
                        <a:lnSpc>
                          <a:spcPts val="1250"/>
                        </a:lnSpc>
                        <a:spcBef>
                          <a:spcPts val="30"/>
                        </a:spcBef>
                      </a:pPr>
                      <a:r>
                        <a:rPr sz="700" b="1" spc="-20" dirty="0">
                          <a:solidFill>
                            <a:srgbClr val="1F4E79"/>
                          </a:solidFill>
                          <a:latin typeface="Arial"/>
                          <a:cs typeface="Arial"/>
                        </a:rPr>
                        <a:t>Team </a:t>
                      </a:r>
                      <a:r>
                        <a:rPr sz="700" b="1" dirty="0">
                          <a:solidFill>
                            <a:srgbClr val="1F4E79"/>
                          </a:solidFill>
                          <a:latin typeface="Arial"/>
                          <a:cs typeface="Arial"/>
                        </a:rPr>
                        <a:t>No.</a:t>
                      </a:r>
                      <a:r>
                        <a:rPr sz="700" b="1" spc="-35" dirty="0">
                          <a:solidFill>
                            <a:srgbClr val="1F4E7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700" b="1" spc="-50" dirty="0">
                          <a:solidFill>
                            <a:srgbClr val="1F4E79"/>
                          </a:solidFill>
                          <a:latin typeface="Arial"/>
                          <a:cs typeface="Arial"/>
                        </a:rPr>
                        <a:t>/</a:t>
                      </a:r>
                      <a:endParaRPr sz="700">
                        <a:latin typeface="Arial"/>
                        <a:cs typeface="Arial"/>
                      </a:endParaRPr>
                    </a:p>
                    <a:p>
                      <a:pPr marL="69850" marR="125095">
                        <a:lnSpc>
                          <a:spcPts val="1270"/>
                        </a:lnSpc>
                        <a:spcBef>
                          <a:spcPts val="5"/>
                        </a:spcBef>
                      </a:pPr>
                      <a:r>
                        <a:rPr sz="700" b="1" spc="-10" dirty="0">
                          <a:solidFill>
                            <a:srgbClr val="1F4E79"/>
                          </a:solidFill>
                          <a:latin typeface="Arial"/>
                          <a:cs typeface="Arial"/>
                        </a:rPr>
                        <a:t>Criteria Level</a:t>
                      </a:r>
                      <a:endParaRPr sz="700">
                        <a:latin typeface="Arial"/>
                        <a:cs typeface="Arial"/>
                      </a:endParaRPr>
                    </a:p>
                  </a:txBody>
                  <a:tcPr marL="0" marR="0" marT="2598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 marR="347345">
                        <a:lnSpc>
                          <a:spcPts val="1250"/>
                        </a:lnSpc>
                        <a:spcBef>
                          <a:spcPts val="30"/>
                        </a:spcBef>
                      </a:pPr>
                      <a:r>
                        <a:rPr sz="700" b="1" spc="-10" dirty="0">
                          <a:solidFill>
                            <a:srgbClr val="1F4E79"/>
                          </a:solidFill>
                          <a:latin typeface="Arial"/>
                          <a:cs typeface="Arial"/>
                        </a:rPr>
                        <a:t>Technical Content</a:t>
                      </a:r>
                      <a:endParaRPr sz="700" dirty="0">
                        <a:latin typeface="Arial"/>
                        <a:cs typeface="Arial"/>
                      </a:endParaRPr>
                    </a:p>
                    <a:p>
                      <a:pPr marL="69850">
                        <a:lnSpc>
                          <a:spcPts val="1240"/>
                        </a:lnSpc>
                      </a:pPr>
                      <a:r>
                        <a:rPr sz="700" b="1" spc="-10" dirty="0">
                          <a:solidFill>
                            <a:srgbClr val="1F4E79"/>
                          </a:solidFill>
                          <a:latin typeface="Arial"/>
                          <a:cs typeface="Arial"/>
                        </a:rPr>
                        <a:t>Accuracy</a:t>
                      </a:r>
                      <a:endParaRPr sz="700" dirty="0">
                        <a:latin typeface="Arial"/>
                        <a:cs typeface="Arial"/>
                      </a:endParaRPr>
                    </a:p>
                  </a:txBody>
                  <a:tcPr marL="0" marR="0" marT="2598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 marR="65405">
                        <a:lnSpc>
                          <a:spcPts val="1270"/>
                        </a:lnSpc>
                        <a:spcBef>
                          <a:spcPts val="15"/>
                        </a:spcBef>
                      </a:pPr>
                      <a:r>
                        <a:rPr sz="700" b="1" spc="-10" dirty="0">
                          <a:solidFill>
                            <a:srgbClr val="1F4E79"/>
                          </a:solidFill>
                          <a:latin typeface="Arial"/>
                          <a:cs typeface="Arial"/>
                        </a:rPr>
                        <a:t>Problem Identification</a:t>
                      </a:r>
                      <a:endParaRPr sz="700">
                        <a:latin typeface="Arial"/>
                        <a:cs typeface="Arial"/>
                      </a:endParaRPr>
                    </a:p>
                  </a:txBody>
                  <a:tcPr marL="0" marR="0" marT="1299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 marR="317500">
                        <a:lnSpc>
                          <a:spcPts val="1270"/>
                        </a:lnSpc>
                        <a:spcBef>
                          <a:spcPts val="15"/>
                        </a:spcBef>
                      </a:pPr>
                      <a:r>
                        <a:rPr sz="700" b="1" dirty="0">
                          <a:solidFill>
                            <a:srgbClr val="1F4E79"/>
                          </a:solidFill>
                          <a:latin typeface="Arial"/>
                          <a:cs typeface="Arial"/>
                        </a:rPr>
                        <a:t>Use</a:t>
                      </a:r>
                      <a:r>
                        <a:rPr sz="700" b="1" spc="-25" dirty="0">
                          <a:solidFill>
                            <a:srgbClr val="1F4E79"/>
                          </a:solidFill>
                          <a:latin typeface="Arial"/>
                          <a:cs typeface="Arial"/>
                        </a:rPr>
                        <a:t> of </a:t>
                      </a:r>
                      <a:r>
                        <a:rPr sz="700" b="1" spc="-10" dirty="0">
                          <a:solidFill>
                            <a:srgbClr val="1F4E79"/>
                          </a:solidFill>
                          <a:latin typeface="Arial"/>
                          <a:cs typeface="Arial"/>
                        </a:rPr>
                        <a:t>Tools</a:t>
                      </a:r>
                      <a:endParaRPr sz="700" dirty="0">
                        <a:latin typeface="Arial"/>
                        <a:cs typeface="Arial"/>
                      </a:endParaRPr>
                    </a:p>
                  </a:txBody>
                  <a:tcPr marL="0" marR="0" marT="1299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50"/>
                        </a:lnSpc>
                      </a:pPr>
                      <a:r>
                        <a:rPr sz="700" b="1" spc="-10" dirty="0">
                          <a:solidFill>
                            <a:srgbClr val="1F4E79"/>
                          </a:solidFill>
                          <a:latin typeface="Arial"/>
                          <a:cs typeface="Arial"/>
                        </a:rPr>
                        <a:t>Communication</a:t>
                      </a:r>
                      <a:endParaRPr sz="7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ts val="1250"/>
                        </a:lnSpc>
                      </a:pPr>
                      <a:r>
                        <a:rPr sz="700" b="1" spc="-10" dirty="0">
                          <a:solidFill>
                            <a:srgbClr val="1F4E79"/>
                          </a:solidFill>
                          <a:latin typeface="Arial"/>
                          <a:cs typeface="Arial"/>
                        </a:rPr>
                        <a:t>Professionalism</a:t>
                      </a:r>
                      <a:endParaRPr sz="7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30"/>
                        </a:lnSpc>
                      </a:pPr>
                      <a:r>
                        <a:rPr sz="700" b="1" spc="-10" dirty="0">
                          <a:solidFill>
                            <a:srgbClr val="1F4E79"/>
                          </a:solidFill>
                          <a:latin typeface="Arial"/>
                          <a:cs typeface="Arial"/>
                        </a:rPr>
                        <a:t>Total</a:t>
                      </a:r>
                      <a:endParaRPr sz="700" dirty="0">
                        <a:latin typeface="Arial"/>
                        <a:cs typeface="Arial"/>
                      </a:endParaRPr>
                    </a:p>
                    <a:p>
                      <a:pPr marL="66675">
                        <a:lnSpc>
                          <a:spcPts val="1295"/>
                        </a:lnSpc>
                      </a:pPr>
                      <a:r>
                        <a:rPr sz="700" b="1" spc="-50" dirty="0">
                          <a:solidFill>
                            <a:srgbClr val="1F4E79"/>
                          </a:solidFill>
                          <a:latin typeface="Arial"/>
                          <a:cs typeface="Arial"/>
                        </a:rPr>
                        <a:t>%</a:t>
                      </a:r>
                      <a:endParaRPr sz="7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object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1090418"/>
              </p:ext>
            </p:extLst>
          </p:nvPr>
        </p:nvGraphicFramePr>
        <p:xfrm>
          <a:off x="2623279" y="4794542"/>
          <a:ext cx="6967927" cy="62735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921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921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836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53699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600" b="1" dirty="0">
                          <a:solidFill>
                            <a:srgbClr val="1F4E79"/>
                          </a:solidFill>
                          <a:latin typeface="Arial"/>
                          <a:cs typeface="Arial"/>
                        </a:rPr>
                        <a:t>Faculty </a:t>
                      </a:r>
                      <a:r>
                        <a:rPr sz="600" b="1" spc="-10" dirty="0">
                          <a:solidFill>
                            <a:srgbClr val="1F4E79"/>
                          </a:solidFill>
                          <a:latin typeface="Arial"/>
                          <a:cs typeface="Arial"/>
                        </a:rPr>
                        <a:t>In-charge</a:t>
                      </a:r>
                      <a:endParaRPr sz="600">
                        <a:latin typeface="Arial"/>
                        <a:cs typeface="Arial"/>
                      </a:endParaRPr>
                    </a:p>
                  </a:txBody>
                  <a:tcPr marL="0" marR="0" marT="25977" marB="0">
                    <a:lnL w="6350">
                      <a:solidFill>
                        <a:srgbClr val="9DC3E6"/>
                      </a:solidFill>
                      <a:prstDash val="solid"/>
                    </a:lnL>
                    <a:lnR w="6350">
                      <a:solidFill>
                        <a:srgbClr val="9DC3E6"/>
                      </a:solidFill>
                      <a:prstDash val="solid"/>
                    </a:lnR>
                    <a:lnT w="6350">
                      <a:solidFill>
                        <a:srgbClr val="9DC3E6"/>
                      </a:solidFill>
                      <a:prstDash val="solid"/>
                    </a:lnT>
                    <a:lnB w="6350">
                      <a:solidFill>
                        <a:srgbClr val="9DC3E6"/>
                      </a:solidFill>
                      <a:prstDash val="solid"/>
                    </a:lnB>
                    <a:solidFill>
                      <a:srgbClr val="D5E3EF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600" b="1" dirty="0">
                          <a:solidFill>
                            <a:srgbClr val="1F4E79"/>
                          </a:solidFill>
                          <a:latin typeface="Arial"/>
                          <a:cs typeface="Arial"/>
                        </a:rPr>
                        <a:t>Course </a:t>
                      </a:r>
                      <a:r>
                        <a:rPr sz="600" b="1" spc="-10" dirty="0">
                          <a:solidFill>
                            <a:srgbClr val="1F4E79"/>
                          </a:solidFill>
                          <a:latin typeface="Arial"/>
                          <a:cs typeface="Arial"/>
                        </a:rPr>
                        <a:t>Coordinator</a:t>
                      </a:r>
                      <a:endParaRPr sz="600">
                        <a:latin typeface="Arial"/>
                        <a:cs typeface="Arial"/>
                      </a:endParaRPr>
                    </a:p>
                  </a:txBody>
                  <a:tcPr marL="0" marR="0" marT="25977" marB="0">
                    <a:lnL w="6350">
                      <a:solidFill>
                        <a:srgbClr val="9DC3E6"/>
                      </a:solidFill>
                      <a:prstDash val="solid"/>
                    </a:lnL>
                    <a:lnR w="6350">
                      <a:solidFill>
                        <a:srgbClr val="9DC3E6"/>
                      </a:solidFill>
                      <a:prstDash val="solid"/>
                    </a:lnR>
                    <a:lnT w="6350">
                      <a:solidFill>
                        <a:srgbClr val="9DC3E6"/>
                      </a:solidFill>
                      <a:prstDash val="solid"/>
                    </a:lnT>
                    <a:lnB w="6350">
                      <a:solidFill>
                        <a:srgbClr val="9DC3E6"/>
                      </a:solidFill>
                      <a:prstDash val="solid"/>
                    </a:lnB>
                    <a:solidFill>
                      <a:srgbClr val="D5E3EF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600" b="1" dirty="0">
                          <a:solidFill>
                            <a:srgbClr val="1F4E79"/>
                          </a:solidFill>
                          <a:latin typeface="Arial"/>
                          <a:cs typeface="Arial"/>
                        </a:rPr>
                        <a:t>Program</a:t>
                      </a:r>
                      <a:r>
                        <a:rPr sz="600" b="1" spc="-10" dirty="0">
                          <a:solidFill>
                            <a:srgbClr val="1F4E79"/>
                          </a:solidFill>
                          <a:latin typeface="Arial"/>
                          <a:cs typeface="Arial"/>
                        </a:rPr>
                        <a:t> Director</a:t>
                      </a:r>
                      <a:endParaRPr sz="600">
                        <a:latin typeface="Arial"/>
                        <a:cs typeface="Arial"/>
                      </a:endParaRPr>
                    </a:p>
                  </a:txBody>
                  <a:tcPr marL="0" marR="0" marT="25977" marB="0">
                    <a:lnL w="6350">
                      <a:solidFill>
                        <a:srgbClr val="9DC3E6"/>
                      </a:solidFill>
                      <a:prstDash val="solid"/>
                    </a:lnL>
                    <a:lnR w="6350">
                      <a:solidFill>
                        <a:srgbClr val="9DC3E6"/>
                      </a:solidFill>
                      <a:prstDash val="solid"/>
                    </a:lnR>
                    <a:lnT w="6350">
                      <a:solidFill>
                        <a:srgbClr val="9DC3E6"/>
                      </a:solidFill>
                      <a:prstDash val="solid"/>
                    </a:lnT>
                    <a:lnB w="6350">
                      <a:solidFill>
                        <a:srgbClr val="9DC3E6"/>
                      </a:solidFill>
                      <a:prstDash val="solid"/>
                    </a:lnB>
                    <a:solidFill>
                      <a:srgbClr val="D5E3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1841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700" dirty="0">
                          <a:latin typeface="Arial MT"/>
                          <a:cs typeface="Arial MT"/>
                        </a:rPr>
                        <a:t>Dr.</a:t>
                      </a:r>
                      <a:r>
                        <a:rPr sz="700" spc="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T</a:t>
                      </a:r>
                      <a:r>
                        <a:rPr sz="7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.</a:t>
                      </a:r>
                      <a:r>
                        <a:rPr sz="7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spc="-10" dirty="0">
                          <a:latin typeface="Arial MT"/>
                          <a:cs typeface="Arial MT"/>
                        </a:rPr>
                        <a:t>Kumaragurubaran</a:t>
                      </a:r>
                      <a:endParaRPr sz="700" dirty="0">
                        <a:latin typeface="Arial MT"/>
                        <a:cs typeface="Arial MT"/>
                      </a:endParaRPr>
                    </a:p>
                  </a:txBody>
                  <a:tcPr marL="0" marR="0" marT="27709" marB="0">
                    <a:lnL w="6350">
                      <a:solidFill>
                        <a:srgbClr val="9DC3E6"/>
                      </a:solidFill>
                      <a:prstDash val="solid"/>
                    </a:lnL>
                    <a:lnR w="6350">
                      <a:solidFill>
                        <a:srgbClr val="9DC3E6"/>
                      </a:solidFill>
                      <a:prstDash val="solid"/>
                    </a:lnR>
                    <a:lnT w="6350">
                      <a:solidFill>
                        <a:srgbClr val="9DC3E6"/>
                      </a:solidFill>
                      <a:prstDash val="solid"/>
                    </a:lnT>
                    <a:lnB w="5715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9DC3E6"/>
                      </a:solidFill>
                      <a:prstDash val="solid"/>
                    </a:lnL>
                    <a:lnR w="6350">
                      <a:solidFill>
                        <a:srgbClr val="9DC3E6"/>
                      </a:solidFill>
                      <a:prstDash val="solid"/>
                    </a:lnR>
                    <a:lnT w="6350">
                      <a:solidFill>
                        <a:srgbClr val="9DC3E6"/>
                      </a:solidFill>
                      <a:prstDash val="solid"/>
                    </a:lnT>
                    <a:lnB w="5715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9DC3E6"/>
                      </a:solidFill>
                      <a:prstDash val="solid"/>
                    </a:lnL>
                    <a:lnR w="6350">
                      <a:solidFill>
                        <a:srgbClr val="9DC3E6"/>
                      </a:solidFill>
                      <a:prstDash val="solid"/>
                    </a:lnR>
                    <a:lnT w="6350">
                      <a:solidFill>
                        <a:srgbClr val="9DC3E6"/>
                      </a:solidFill>
                      <a:prstDash val="solid"/>
                    </a:lnT>
                    <a:lnB w="5715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8113">
                <a:tc>
                  <a:txBody>
                    <a:bodyPr/>
                    <a:lstStyle/>
                    <a:p>
                      <a:pPr marR="274320" algn="r">
                        <a:lnSpc>
                          <a:spcPct val="100000"/>
                        </a:lnSpc>
                        <a:spcBef>
                          <a:spcPts val="95"/>
                        </a:spcBef>
                        <a:tabLst>
                          <a:tab pos="1537335" algn="l"/>
                        </a:tabLst>
                      </a:pPr>
                      <a:r>
                        <a:rPr sz="600" dirty="0">
                          <a:latin typeface="Arial MT"/>
                          <a:cs typeface="Arial MT"/>
                        </a:rPr>
                        <a:t>Signature: </a:t>
                      </a:r>
                      <a:r>
                        <a:rPr sz="6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Arial MT"/>
                          <a:cs typeface="Arial MT"/>
                        </a:rPr>
                        <a:t>	</a:t>
                      </a:r>
                      <a:endParaRPr sz="600">
                        <a:latin typeface="Arial MT"/>
                        <a:cs typeface="Arial MT"/>
                      </a:endParaRPr>
                    </a:p>
                  </a:txBody>
                  <a:tcPr marL="0" marR="0" marT="8226" marB="0">
                    <a:lnL w="6350">
                      <a:solidFill>
                        <a:srgbClr val="9DC3E6"/>
                      </a:solidFill>
                      <a:prstDash val="solid"/>
                    </a:lnL>
                    <a:lnR w="6350">
                      <a:solidFill>
                        <a:srgbClr val="9DC3E6"/>
                      </a:solidFill>
                      <a:prstDash val="solid"/>
                    </a:lnR>
                    <a:lnT w="571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9DC3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74320" algn="r">
                        <a:lnSpc>
                          <a:spcPct val="100000"/>
                        </a:lnSpc>
                        <a:spcBef>
                          <a:spcPts val="95"/>
                        </a:spcBef>
                        <a:tabLst>
                          <a:tab pos="1537335" algn="l"/>
                        </a:tabLst>
                      </a:pPr>
                      <a:r>
                        <a:rPr sz="600" dirty="0">
                          <a:latin typeface="Arial MT"/>
                          <a:cs typeface="Arial MT"/>
                        </a:rPr>
                        <a:t>Signature: </a:t>
                      </a:r>
                      <a:r>
                        <a:rPr sz="6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Arial MT"/>
                          <a:cs typeface="Arial MT"/>
                        </a:rPr>
                        <a:t>	</a:t>
                      </a:r>
                      <a:endParaRPr sz="600">
                        <a:latin typeface="Arial MT"/>
                        <a:cs typeface="Arial MT"/>
                      </a:endParaRPr>
                    </a:p>
                  </a:txBody>
                  <a:tcPr marL="0" marR="0" marT="8226" marB="0">
                    <a:lnL w="6350">
                      <a:solidFill>
                        <a:srgbClr val="9DC3E6"/>
                      </a:solidFill>
                      <a:prstDash val="solid"/>
                    </a:lnL>
                    <a:lnR w="6350">
                      <a:solidFill>
                        <a:srgbClr val="9DC3E6"/>
                      </a:solidFill>
                      <a:prstDash val="solid"/>
                    </a:lnR>
                    <a:lnT w="571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9DC3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74955" algn="r">
                        <a:lnSpc>
                          <a:spcPct val="100000"/>
                        </a:lnSpc>
                        <a:spcBef>
                          <a:spcPts val="95"/>
                        </a:spcBef>
                        <a:tabLst>
                          <a:tab pos="1537335" algn="l"/>
                        </a:tabLst>
                      </a:pPr>
                      <a:r>
                        <a:rPr sz="600" dirty="0">
                          <a:latin typeface="Arial MT"/>
                          <a:cs typeface="Arial MT"/>
                        </a:rPr>
                        <a:t>Signature: </a:t>
                      </a:r>
                      <a:r>
                        <a:rPr sz="6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Arial MT"/>
                          <a:cs typeface="Arial MT"/>
                        </a:rPr>
                        <a:t>	</a:t>
                      </a:r>
                      <a:endParaRPr sz="600">
                        <a:latin typeface="Arial MT"/>
                        <a:cs typeface="Arial MT"/>
                      </a:endParaRPr>
                    </a:p>
                  </a:txBody>
                  <a:tcPr marL="0" marR="0" marT="8226" marB="0">
                    <a:lnL w="6350">
                      <a:solidFill>
                        <a:srgbClr val="9DC3E6"/>
                      </a:solidFill>
                      <a:prstDash val="solid"/>
                    </a:lnL>
                    <a:lnR w="6350">
                      <a:solidFill>
                        <a:srgbClr val="9DC3E6"/>
                      </a:solidFill>
                      <a:prstDash val="solid"/>
                    </a:lnR>
                    <a:lnT w="571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9DC3E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3699">
                <a:tc>
                  <a:txBody>
                    <a:bodyPr/>
                    <a:lstStyle/>
                    <a:p>
                      <a:pPr marR="271145" algn="r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pos="1543685" algn="l"/>
                        </a:tabLst>
                      </a:pPr>
                      <a:r>
                        <a:rPr sz="600" dirty="0">
                          <a:latin typeface="Arial MT"/>
                          <a:cs typeface="Arial MT"/>
                        </a:rPr>
                        <a:t>Date: </a:t>
                      </a:r>
                      <a:r>
                        <a:rPr sz="6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Arial MT"/>
                          <a:cs typeface="Arial MT"/>
                        </a:rPr>
                        <a:t>	</a:t>
                      </a:r>
                      <a:endParaRPr sz="600">
                        <a:latin typeface="Arial MT"/>
                        <a:cs typeface="Arial MT"/>
                      </a:endParaRPr>
                    </a:p>
                  </a:txBody>
                  <a:tcPr marL="0" marR="0" marT="25977" marB="0">
                    <a:lnL w="6350">
                      <a:solidFill>
                        <a:srgbClr val="9DC3E6"/>
                      </a:solidFill>
                      <a:prstDash val="solid"/>
                    </a:lnL>
                    <a:lnR w="6350">
                      <a:solidFill>
                        <a:srgbClr val="9DC3E6"/>
                      </a:solidFill>
                      <a:prstDash val="solid"/>
                    </a:lnR>
                    <a:lnT w="6350">
                      <a:solidFill>
                        <a:srgbClr val="9DC3E6"/>
                      </a:solidFill>
                      <a:prstDash val="solid"/>
                    </a:lnT>
                    <a:lnB w="6350">
                      <a:solidFill>
                        <a:srgbClr val="9DC3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71145" algn="r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pos="1543685" algn="l"/>
                        </a:tabLst>
                      </a:pPr>
                      <a:r>
                        <a:rPr sz="600" dirty="0">
                          <a:latin typeface="Arial MT"/>
                          <a:cs typeface="Arial MT"/>
                        </a:rPr>
                        <a:t>Date: </a:t>
                      </a:r>
                      <a:r>
                        <a:rPr sz="6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Arial MT"/>
                          <a:cs typeface="Arial MT"/>
                        </a:rPr>
                        <a:t>	</a:t>
                      </a:r>
                      <a:endParaRPr sz="600">
                        <a:latin typeface="Arial MT"/>
                        <a:cs typeface="Arial MT"/>
                      </a:endParaRPr>
                    </a:p>
                  </a:txBody>
                  <a:tcPr marL="0" marR="0" marT="25977" marB="0">
                    <a:lnL w="6350">
                      <a:solidFill>
                        <a:srgbClr val="9DC3E6"/>
                      </a:solidFill>
                      <a:prstDash val="solid"/>
                    </a:lnL>
                    <a:lnR w="6350">
                      <a:solidFill>
                        <a:srgbClr val="9DC3E6"/>
                      </a:solidFill>
                      <a:prstDash val="solid"/>
                    </a:lnR>
                    <a:lnT w="6350">
                      <a:solidFill>
                        <a:srgbClr val="9DC3E6"/>
                      </a:solidFill>
                      <a:prstDash val="solid"/>
                    </a:lnT>
                    <a:lnB w="6350">
                      <a:solidFill>
                        <a:srgbClr val="9DC3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71780" algn="r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pos="1543685" algn="l"/>
                        </a:tabLst>
                      </a:pPr>
                      <a:r>
                        <a:rPr sz="600" dirty="0">
                          <a:latin typeface="Arial MT"/>
                          <a:cs typeface="Arial MT"/>
                        </a:rPr>
                        <a:t>Date: </a:t>
                      </a:r>
                      <a:r>
                        <a:rPr sz="6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Arial MT"/>
                          <a:cs typeface="Arial MT"/>
                        </a:rPr>
                        <a:t>	</a:t>
                      </a:r>
                      <a:endParaRPr sz="600" dirty="0">
                        <a:latin typeface="Arial MT"/>
                        <a:cs typeface="Arial MT"/>
                      </a:endParaRPr>
                    </a:p>
                  </a:txBody>
                  <a:tcPr marL="0" marR="0" marT="25977" marB="0">
                    <a:lnL w="6350">
                      <a:solidFill>
                        <a:srgbClr val="9DC3E6"/>
                      </a:solidFill>
                      <a:prstDash val="solid"/>
                    </a:lnL>
                    <a:lnR w="6350">
                      <a:solidFill>
                        <a:srgbClr val="9DC3E6"/>
                      </a:solidFill>
                      <a:prstDash val="solid"/>
                    </a:lnR>
                    <a:lnT w="6350">
                      <a:solidFill>
                        <a:srgbClr val="9DC3E6"/>
                      </a:solidFill>
                      <a:prstDash val="solid"/>
                    </a:lnT>
                    <a:lnB w="6350">
                      <a:solidFill>
                        <a:srgbClr val="9DC3E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5029200" cy="50292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754880"/>
            <a:ext cx="3840480" cy="384048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138928" y="1051560"/>
            <a:ext cx="1920240" cy="1920240"/>
          </a:xfrm>
          <a:prstGeom prst="ellipse">
            <a:avLst/>
          </a:prstGeom>
          <a:solidFill>
            <a:srgbClr val="1C7293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5" name="Image 0" descr="icon_br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8988" y="1531620"/>
            <a:ext cx="960120" cy="9601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0" y="306324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kern="0" spc="400" dirty="0">
                <a:solidFill>
                  <a:srgbClr val="9F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31520" y="3429000"/>
            <a:ext cx="1072865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Natural Language Processing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1463040" y="4434840"/>
            <a:ext cx="92656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C7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simple, plain-English guide to how computers understand human language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0" y="612648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kern="0" spc="300" dirty="0">
                <a:solidFill>
                  <a:srgbClr val="6F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 ·  AI  ·  LANGUAGE  ·  TECHNOLOGY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NLP?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idea, explained in everyday words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63093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stands for </a:t>
            </a: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Processing</a:t>
            </a: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
It is a branch of Artificial Intelligence (AI) that teaches computers to read, understand, and reply to human language — the way we naturally speak or type it, like English or Tamil.
</a:t>
            </a:r>
            <a:r>
              <a:rPr lang="en-US" sz="1600" b="1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short: NLP helps a machine make sense of our words.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5074920"/>
            <a:ext cx="6309360" cy="1325880"/>
          </a:xfrm>
          <a:prstGeom prst="roundRect">
            <a:avLst>
              <a:gd name="adj" fmla="val 8276"/>
            </a:avLst>
          </a:prstGeom>
          <a:solidFill>
            <a:srgbClr val="EAF4F9"/>
          </a:solidFill>
          <a:ln/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5193792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EVERYDAY EXAMPLE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77240" y="5468112"/>
            <a:ext cx="58521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say "Hey Siri, what's the weather?" — NLP is what lets Siri understand your question and give you a real answer.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7452360" y="1554480"/>
            <a:ext cx="4160520" cy="4846320"/>
          </a:xfrm>
          <a:prstGeom prst="roundRect">
            <a:avLst>
              <a:gd name="adj" fmla="val 3297"/>
            </a:avLst>
          </a:prstGeom>
          <a:solidFill>
            <a:srgbClr val="21295C"/>
          </a:solidFill>
          <a:ln/>
        </p:spPr>
      </p:sp>
      <p:sp>
        <p:nvSpPr>
          <p:cNvPr id="9" name="Shape 7"/>
          <p:cNvSpPr/>
          <p:nvPr/>
        </p:nvSpPr>
        <p:spPr>
          <a:xfrm>
            <a:off x="8613648" y="2331720"/>
            <a:ext cx="1828800" cy="1828800"/>
          </a:xfrm>
          <a:prstGeom prst="ellipse">
            <a:avLst/>
          </a:prstGeom>
          <a:solidFill>
            <a:srgbClr val="1C7293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0" name="Image 0" descr="icon_commen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25128" y="2743200"/>
            <a:ext cx="1005840" cy="10058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726680" y="4434840"/>
            <a:ext cx="3611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5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"Book me a</a:t>
            </a:r>
            <a:endParaRPr lang="en-US" sz="15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5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table for two</a:t>
            </a:r>
            <a:endParaRPr lang="en-US" sz="15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5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tomorrow."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7726680" y="5440680"/>
            <a:ext cx="3611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F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language  →  understood by a machine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AF4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Does NLP Work?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simple steps a computer follows to understand a sentence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2606040" cy="39776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85900" y="2194560"/>
            <a:ext cx="731520" cy="7315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194560"/>
            <a:ext cx="2606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13232" y="3108960"/>
            <a:ext cx="22768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 the Text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49808" y="3703320"/>
            <a:ext cx="2203704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computer takes in what you typed or said, e.g. "I love pizza."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154680" y="3543300"/>
            <a:ext cx="2560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3410712" y="1874520"/>
            <a:ext cx="2606040" cy="39776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47972" y="219456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3410712" y="2194560"/>
            <a:ext cx="2606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575304" y="3108960"/>
            <a:ext cx="22768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Break It Apart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611880" y="3703320"/>
            <a:ext cx="2203704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splits the sentence into words: I | love | pizza — this is called tokenization.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016752" y="3543300"/>
            <a:ext cx="2560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6272784" y="1874520"/>
            <a:ext cx="2606040" cy="39776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210044" y="2194560"/>
            <a:ext cx="731520" cy="731520"/>
          </a:xfrm>
          <a:prstGeom prst="ellipse">
            <a:avLst/>
          </a:prstGeom>
          <a:solidFill>
            <a:srgbClr val="146077"/>
          </a:solidFill>
          <a:ln/>
        </p:spPr>
      </p:sp>
      <p:sp>
        <p:nvSpPr>
          <p:cNvPr id="18" name="Text 16"/>
          <p:cNvSpPr/>
          <p:nvPr/>
        </p:nvSpPr>
        <p:spPr>
          <a:xfrm>
            <a:off x="6272784" y="2194560"/>
            <a:ext cx="2606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437376" y="3108960"/>
            <a:ext cx="22768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Understand Meaning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73952" y="3703320"/>
            <a:ext cx="2203704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studies grammar and context to figure out what each word means together.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878824" y="3543300"/>
            <a:ext cx="2560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22" name="Shape 20"/>
          <p:cNvSpPr/>
          <p:nvPr/>
        </p:nvSpPr>
        <p:spPr>
          <a:xfrm>
            <a:off x="9134856" y="1874520"/>
            <a:ext cx="2606040" cy="39776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10072116" y="2194560"/>
            <a:ext cx="731520" cy="73152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24" name="Text 22"/>
          <p:cNvSpPr/>
          <p:nvPr/>
        </p:nvSpPr>
        <p:spPr>
          <a:xfrm>
            <a:off x="9134856" y="2194560"/>
            <a:ext cx="2606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9299448" y="3108960"/>
            <a:ext cx="22768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Respond or Act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336024" y="3703320"/>
            <a:ext cx="2203704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gives a useful reply, translation, or answer based on what it understood.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Do We See NLP?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already works quietly behind apps you use every day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20440" cy="2148840"/>
          </a:xfrm>
          <a:prstGeom prst="roundRect">
            <a:avLst>
              <a:gd name="adj" fmla="val 4255"/>
            </a:avLst>
          </a:prstGeom>
          <a:solidFill>
            <a:srgbClr val="EAF4F9"/>
          </a:solidFill>
          <a:ln/>
          <a:effectLst>
            <a:outerShdw blurRad="508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993392"/>
            <a:ext cx="685800" cy="685800"/>
          </a:xfrm>
          <a:prstGeom prst="ellipse">
            <a:avLst/>
          </a:prstGeom>
          <a:solidFill>
            <a:srgbClr val="065A82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6" name="Image 0" descr="icon_rob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1545" y="2147697"/>
            <a:ext cx="377190" cy="37719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93852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Chatbots &amp; Assistants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77240" y="2761488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Siri, Alexa, and customer-service bots that chat with you.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43400" y="1737360"/>
            <a:ext cx="3520440" cy="2148840"/>
          </a:xfrm>
          <a:prstGeom prst="roundRect">
            <a:avLst>
              <a:gd name="adj" fmla="val 4255"/>
            </a:avLst>
          </a:prstGeom>
          <a:solidFill>
            <a:srgbClr val="EAF4F9"/>
          </a:solidFill>
          <a:ln/>
          <a:effectLst>
            <a:outerShdw blurRad="508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72000" y="1993392"/>
            <a:ext cx="685800" cy="685800"/>
          </a:xfrm>
          <a:prstGeom prst="ellipse">
            <a:avLst/>
          </a:prstGeom>
          <a:solidFill>
            <a:srgbClr val="1C7293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1" name="Image 1" descr="icon_langu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6305" y="2147697"/>
            <a:ext cx="377190" cy="37719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94960" y="193852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Translation Apps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572000" y="2761488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Translate turns one language into another in seconds.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138160" y="1737360"/>
            <a:ext cx="3520440" cy="2148840"/>
          </a:xfrm>
          <a:prstGeom prst="roundRect">
            <a:avLst>
              <a:gd name="adj" fmla="val 4255"/>
            </a:avLst>
          </a:prstGeom>
          <a:solidFill>
            <a:srgbClr val="EAF4F9"/>
          </a:solidFill>
          <a:ln/>
          <a:effectLst>
            <a:outerShdw blurRad="508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66760" y="1993392"/>
            <a:ext cx="685800" cy="685800"/>
          </a:xfrm>
          <a:prstGeom prst="ellipse">
            <a:avLst/>
          </a:prstGeom>
          <a:solidFill>
            <a:srgbClr val="146077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6" name="Image 2" descr="icon_searc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21065" y="2147697"/>
            <a:ext cx="377190" cy="37719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189720" y="193852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Search Engines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366760" y="2761488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understands your search phrase, not just keywords.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48640" y="4160520"/>
            <a:ext cx="3520440" cy="2148840"/>
          </a:xfrm>
          <a:prstGeom prst="roundRect">
            <a:avLst>
              <a:gd name="adj" fmla="val 4255"/>
            </a:avLst>
          </a:prstGeom>
          <a:solidFill>
            <a:srgbClr val="EAF4F9"/>
          </a:solidFill>
          <a:ln/>
          <a:effectLst>
            <a:outerShdw blurRad="508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77240" y="4416552"/>
            <a:ext cx="685800" cy="685800"/>
          </a:xfrm>
          <a:prstGeom prst="ellipse">
            <a:avLst/>
          </a:prstGeom>
          <a:solidFill>
            <a:srgbClr val="21295C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21" name="Image 3" descr="icon_envelop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1545" y="4570857"/>
            <a:ext cx="377190" cy="37719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600200" y="436168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Spam Filters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777240" y="5184648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email app spots and blocks junk mail automatically.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343400" y="4160520"/>
            <a:ext cx="3520440" cy="2148840"/>
          </a:xfrm>
          <a:prstGeom prst="roundRect">
            <a:avLst>
              <a:gd name="adj" fmla="val 4255"/>
            </a:avLst>
          </a:prstGeom>
          <a:solidFill>
            <a:srgbClr val="EAF4F9"/>
          </a:solidFill>
          <a:ln/>
          <a:effectLst>
            <a:outerShdw blurRad="508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72000" y="4416552"/>
            <a:ext cx="685800" cy="685800"/>
          </a:xfrm>
          <a:prstGeom prst="ellipse">
            <a:avLst/>
          </a:prstGeom>
          <a:solidFill>
            <a:srgbClr val="065A82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26" name="Image 4" descr="icon_microphon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26305" y="4570857"/>
            <a:ext cx="377190" cy="37719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394960" y="436168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Voice Typing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4572000" y="5184648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into your phone and watch your words appear as text.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8138160" y="4160520"/>
            <a:ext cx="3520440" cy="2148840"/>
          </a:xfrm>
          <a:prstGeom prst="roundRect">
            <a:avLst>
              <a:gd name="adj" fmla="val 4255"/>
            </a:avLst>
          </a:prstGeom>
          <a:solidFill>
            <a:srgbClr val="EAF4F9"/>
          </a:solidFill>
          <a:ln/>
          <a:effectLst>
            <a:outerShdw blurRad="508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366760" y="4416552"/>
            <a:ext cx="685800" cy="685800"/>
          </a:xfrm>
          <a:prstGeom prst="ellipse">
            <a:avLst/>
          </a:prstGeom>
          <a:solidFill>
            <a:srgbClr val="1C7293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31" name="Image 5" descr="icon_char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21065" y="4570857"/>
            <a:ext cx="377190" cy="37719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189720" y="436168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Sentiment Analysis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8366760" y="5184648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 check if reviews and tweets sound happy or upset.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4389120"/>
            <a:ext cx="4114800" cy="411480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NLP Matters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F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idea to remember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965960"/>
            <a:ext cx="822960" cy="822960"/>
          </a:xfrm>
          <a:prstGeom prst="ellipse">
            <a:avLst/>
          </a:prstGeom>
          <a:solidFill>
            <a:srgbClr val="1C7293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7" name="Image 0" descr="icon_fi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246" y="2151126"/>
            <a:ext cx="452628" cy="45262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37360" y="1920240"/>
            <a:ext cx="96926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is messy — full of slang, tone, and double meanings. NLP helps computers handle that mess.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640080" y="3200400"/>
            <a:ext cx="822960" cy="822960"/>
          </a:xfrm>
          <a:prstGeom prst="ellipse">
            <a:avLst/>
          </a:prstGeom>
          <a:solidFill>
            <a:srgbClr val="1C7293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0" name="Image 1" descr="icon_bra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246" y="3385566"/>
            <a:ext cx="452628" cy="45262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737360" y="3154680"/>
            <a:ext cx="96926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the bridge between how humans talk and how machines think, using data and rules together.</a:t>
            </a:r>
            <a:endParaRPr lang="en-US" sz="1550" dirty="0"/>
          </a:p>
        </p:txBody>
      </p:sp>
      <p:sp>
        <p:nvSpPr>
          <p:cNvPr id="12" name="Shape 8"/>
          <p:cNvSpPr/>
          <p:nvPr/>
        </p:nvSpPr>
        <p:spPr>
          <a:xfrm>
            <a:off x="640080" y="4434840"/>
            <a:ext cx="822960" cy="822960"/>
          </a:xfrm>
          <a:prstGeom prst="ellipse">
            <a:avLst/>
          </a:prstGeom>
          <a:solidFill>
            <a:srgbClr val="1C7293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3" name="Image 2" descr="icon_char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5246" y="4620006"/>
            <a:ext cx="452628" cy="45262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737360" y="4389120"/>
            <a:ext cx="96926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powers tools we rely on daily — search, translation, voice assistants, and smart replies.</a:t>
            </a:r>
            <a:endParaRPr lang="en-US" sz="1550" dirty="0"/>
          </a:p>
        </p:txBody>
      </p:sp>
      <p:sp>
        <p:nvSpPr>
          <p:cNvPr id="15" name="Text 10"/>
          <p:cNvSpPr/>
          <p:nvPr/>
        </p:nvSpPr>
        <p:spPr>
          <a:xfrm>
            <a:off x="822960" y="59893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i="1" dirty="0">
                <a:solidFill>
                  <a:srgbClr val="9FD8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NLP = Teaching computers to understand us, one word at a time.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821D065-3F54-719A-CFED-EE9C422DF1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4936" y="569494"/>
            <a:ext cx="4508645" cy="6007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49703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1539</Words>
  <Application>Microsoft Office PowerPoint</Application>
  <PresentationFormat>Widescreen</PresentationFormat>
  <Paragraphs>273</Paragraphs>
  <Slides>10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Arial MT</vt:lpstr>
      <vt:lpstr>Calibri</vt:lpstr>
      <vt:lpstr>Cambria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Prahaharshini HDN</cp:lastModifiedBy>
  <cp:revision>1</cp:revision>
  <dcterms:created xsi:type="dcterms:W3CDTF">2026-07-13T16:18:32Z</dcterms:created>
  <dcterms:modified xsi:type="dcterms:W3CDTF">2026-07-25T03:07:51Z</dcterms:modified>
</cp:coreProperties>
</file>